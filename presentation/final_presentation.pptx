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gyseLigd7nYSf94nkxykQSnWBk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3992AC-5663-4146-ACAB-9FCA40DE1F7A}">
  <a:tblStyle styleId="{B83992AC-5663-4146-ACAB-9FCA40DE1F7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Calibri"/>
              </a:defRPr>
            </a:pPr>
            <a:r>
              <a:rPr sz="1200" b="0" i="0" u="none" strike="noStrike">
                <a:solidFill>
                  <a:srgbClr val="000000"/>
                </a:solidFill>
                <a:latin typeface="Calibri"/>
              </a:rPr>
              <a:t>Orders by hour of day</a:t>
            </a:r>
          </a:p>
        </c:rich>
      </c:tx>
      <c:layout/>
      <c:overlay val="0"/>
    </c:title>
    <c:autoTitleDeleted val="0"/>
    <c:plotArea>
      <c:layout/>
      <c:barChart>
        <c:barDir val="col"/>
        <c:grouping val="clustered"/>
        <c:varyColors val="0"/>
        <c:ser>
          <c:idx val="0"/>
          <c:order val="0"/>
          <c:tx>
            <c:strRef>
              <c:f>Sheet1!$B$1</c:f>
              <c:strCache>
                <c:ptCount val="1"/>
                <c:pt idx="0">
                  <c:v>Orders</c:v>
                </c:pt>
              </c:strCache>
            </c:strRef>
          </c:tx>
          <c:spPr>
            <a:solidFill>
              <a:srgbClr val="E237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197</c:v>
                </c:pt>
                <c:pt idx="1">
                  <c:v>186</c:v>
                </c:pt>
                <c:pt idx="2">
                  <c:v>159</c:v>
                </c:pt>
                <c:pt idx="3">
                  <c:v>192</c:v>
                </c:pt>
                <c:pt idx="4">
                  <c:v>175</c:v>
                </c:pt>
                <c:pt idx="5">
                  <c:v>188</c:v>
                </c:pt>
                <c:pt idx="6">
                  <c:v>369</c:v>
                </c:pt>
                <c:pt idx="7">
                  <c:v>541</c:v>
                </c:pt>
                <c:pt idx="8">
                  <c:v>765</c:v>
                </c:pt>
                <c:pt idx="9">
                  <c:v>864</c:v>
                </c:pt>
                <c:pt idx="10">
                  <c:v>1083</c:v>
                </c:pt>
                <c:pt idx="11">
                  <c:v>1432</c:v>
                </c:pt>
                <c:pt idx="12">
                  <c:v>1749</c:v>
                </c:pt>
                <c:pt idx="13">
                  <c:v>1663</c:v>
                </c:pt>
                <c:pt idx="14">
                  <c:v>1096</c:v>
                </c:pt>
                <c:pt idx="15">
                  <c:v>922</c:v>
                </c:pt>
                <c:pt idx="16">
                  <c:v>900</c:v>
                </c:pt>
                <c:pt idx="17">
                  <c:v>1060</c:v>
                </c:pt>
                <c:pt idx="18">
                  <c:v>1474</c:v>
                </c:pt>
                <c:pt idx="19">
                  <c:v>1797</c:v>
                </c:pt>
                <c:pt idx="20">
                  <c:v>1632</c:v>
                </c:pt>
                <c:pt idx="21">
                  <c:v>1113</c:v>
                </c:pt>
                <c:pt idx="22">
                  <c:v>550</c:v>
                </c:pt>
                <c:pt idx="23">
                  <c:v>368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Calibri"/>
              </a:defRPr>
            </a:pPr>
            <a:r>
              <a:rPr sz="1200" b="0" i="0" u="none" strike="noStrike">
                <a:solidFill>
                  <a:srgbClr val="000000"/>
                </a:solidFill>
                <a:latin typeface="Calibri"/>
              </a:rPr>
              <a:t>Orders by status (%)</a:t>
            </a:r>
          </a:p>
        </c:rich>
      </c:tx>
      <c:layout/>
      <c:overlay val="0"/>
    </c:title>
    <c:autoTitleDeleted val="0"/>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2E8B57"/>
              </a:solidFill>
              <a:effectLst/>
            </c:spPr>
          </c:dPt>
          <c:dPt>
            <c:idx val="1"/>
            <c:bubble3D val="0"/>
            <c:spPr>
              <a:solidFill>
                <a:srgbClr val="DC143C"/>
              </a:solidFill>
              <a:effectLst/>
            </c:spPr>
          </c:dPt>
          <c:dPt>
            <c:idx val="2"/>
            <c:bubble3D val="0"/>
            <c:spPr>
              <a:solidFill>
                <a:srgbClr val="FFA500"/>
              </a:solidFill>
              <a:effectLst/>
            </c:spPr>
          </c:dPt>
          <c:dPt>
            <c:idx val="3"/>
            <c:bubble3D val="0"/>
            <c:spPr>
              <a:solidFill>
                <a:srgbClr val="DAA520"/>
              </a:solidFill>
              <a:effectLst/>
            </c:spPr>
          </c:dPt>
          <c:dLbls>
            <c:dLbl>
              <c:idx val="0"/>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Delivered</c:v>
                </c:pt>
                <c:pt idx="1">
                  <c:v>Cancelled</c:v>
                </c:pt>
                <c:pt idx="2">
                  <c:v>Food Not Delivered</c:v>
                </c:pt>
                <c:pt idx="3">
                  <c:v>Delivered Late</c:v>
                </c:pt>
              </c:strCache>
            </c:strRef>
          </c:cat>
          <c:val>
            <c:numRef>
              <c:f>Sheet1!$B$2:$B$5</c:f>
              <c:numCache>
                <c:ptCount val="4"/>
                <c:pt idx="0">
                  <c:v>55.6</c:v>
                </c:pt>
                <c:pt idx="1">
                  <c:v>22.3</c:v>
                </c:pt>
                <c:pt idx="2">
                  <c:v>11.5</c:v>
                </c:pt>
                <c:pt idx="3">
                  <c:v>10.5</c:v>
                </c:pt>
              </c:numCache>
            </c:numRef>
          </c:val>
        </c:ser>
        <c:firstSliceAng val="0"/>
        <c:holeSize val="50"/>
      </c:doughnut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Replace the placeholder line with your name, course and date.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questions drive the whole project. Each later slide answers one of them.</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is prepared once in the analytical layer and reused by EDA, ML and Power BI, so all three always agree.</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Rule followed everywhere: fix what is clearly wrong, never guess what is missing. Every decision is logged in cleaning_decisions_Profiling.csv.</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tables at three grains. Distance was not fabricated: customers have no coordinates, so SameCity is used as a documented proxy.</a:t>
            </a:r>
            <a:endParaRPr/>
          </a:p>
        </p:txBody>
      </p:sp>
      <p:sp>
        <p:nvSpPr>
          <p:cNvPr id="85" name="Google Shape;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Figures below were computed in Pandas from order_analytics.csv. Replace or add your top SQL query results here (20+ queries, 2+ views, 1 index) and confirm they match these numbers.</a:t>
            </a:r>
            <a:endParaRPr/>
          </a:p>
        </p:txBody>
      </p:sp>
      <p:sp>
        <p:nvSpPr>
          <p:cNvPr id="103" name="Google Shape;10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Orders peak at lunch and dinner, but cancellation and late rates are the same in peak and off-peak hours (22.3% cancellation in both).</a:t>
            </a:r>
            <a:endParaRPr/>
          </a:p>
        </p:txBody>
      </p:sp>
      <p:sp>
        <p:nvSpPr>
          <p:cNvPr id="124" name="Google Shape;1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regression models were compared and the top two tuned. Predicting the average alone gives an MAE of about 11.5 minutes, the same as the models. Distance, the likely main driver, is not in the data.</a:t>
            </a:r>
            <a:endParaRPr/>
          </a:p>
        </p:txBody>
      </p:sp>
      <p:sp>
        <p:nvSpPr>
          <p:cNvPr id="135" name="Google Shape;13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Churn is about 88% in every recency and order-count group. The naive rule "everyone churns" scores higher on accuracy and F1 than any model, so ROC-AUC is the fair metric, and it is about 0.5.</a:t>
            </a:r>
            <a:endParaRPr/>
          </a:p>
        </p:txBody>
      </p:sp>
      <p:sp>
        <p:nvSpPr>
          <p:cNvPr id="146" name="Google Shape;14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Replace the tiles with screenshots from images/powerbi/ once the dashboard is built. See documentation/powerbi_build_guide.md for the full build steps.</a:t>
            </a:r>
            <a:endParaRPr/>
          </a:p>
        </p:txBody>
      </p:sp>
      <p:sp>
        <p:nvSpPr>
          <p:cNvPr id="158" name="Google Shape;15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recommendation follows from an insight in the Business Insights Report.</a:t>
            </a:r>
            <a:endParaRPr/>
          </a:p>
        </p:txBody>
      </p:sp>
      <p:sp>
        <p:nvSpPr>
          <p:cNvPr id="181" name="Google Shape;18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Being open about limits is part of the method. Both ML models reflect the dataset, not the code.</a:t>
            </a:r>
            <a:endParaRPr/>
          </a:p>
        </p:txBody>
      </p:sp>
      <p:sp>
        <p:nvSpPr>
          <p:cNvPr id="204" name="Google Shape;2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C1C"/>
        </a:solidFill>
      </p:bgPr>
    </p:bg>
    <p:spTree>
      <p:nvGrpSpPr>
        <p:cNvPr id="15" name="Shape 15"/>
        <p:cNvGrpSpPr/>
        <p:nvPr/>
      </p:nvGrpSpPr>
      <p:grpSpPr>
        <a:xfrm>
          <a:off x="0" y="0"/>
          <a:ext cx="0" cy="0"/>
          <a:chOff x="0" y="0"/>
          <a:chExt cx="0" cy="0"/>
        </a:xfrm>
      </p:grpSpPr>
      <p:sp>
        <p:nvSpPr>
          <p:cNvPr id="16" name="Google Shape;16;p1"/>
          <p:cNvSpPr/>
          <p:nvPr/>
        </p:nvSpPr>
        <p:spPr>
          <a:xfrm>
            <a:off x="0" y="0"/>
            <a:ext cx="228600"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txBox="1"/>
          <p:nvPr/>
        </p:nvSpPr>
        <p:spPr>
          <a:xfrm>
            <a:off x="731520" y="1280160"/>
            <a:ext cx="768096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Zomato Business Intelligence</a:t>
            </a:r>
            <a:endParaRPr b="0" i="0" sz="3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&amp; Delivery Prediction</a:t>
            </a:r>
            <a:endParaRPr b="0" i="0" sz="3800" u="none" cap="none" strike="noStrike">
              <a:solidFill>
                <a:schemeClr val="dk1"/>
              </a:solidFill>
              <a:latin typeface="Calibri"/>
              <a:ea typeface="Calibri"/>
              <a:cs typeface="Calibri"/>
              <a:sym typeface="Calibri"/>
            </a:endParaRPr>
          </a:p>
        </p:txBody>
      </p:sp>
      <p:sp>
        <p:nvSpPr>
          <p:cNvPr id="18" name="Google Shape;18;p1"/>
          <p:cNvSpPr txBox="1"/>
          <p:nvPr/>
        </p:nvSpPr>
        <p:spPr>
          <a:xfrm>
            <a:off x="731520" y="292608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600"/>
              <a:buFont typeface="Calibri"/>
              <a:buNone/>
            </a:pPr>
            <a:r>
              <a:rPr b="0" i="0" lang="en-US" sz="1600" u="none" cap="none" strike="noStrike">
                <a:solidFill>
                  <a:srgbClr val="CCCCCC"/>
                </a:solidFill>
                <a:latin typeface="Calibri"/>
                <a:ea typeface="Calibri"/>
                <a:cs typeface="Calibri"/>
                <a:sym typeface="Calibri"/>
              </a:rPr>
              <a:t>Cleaning, SQL, EDA, machine learning and Power BI on two years of food-delivery orders (Jan 2023 - Dec 2024)</a:t>
            </a:r>
            <a:endParaRPr b="0" i="0" sz="1600" u="none" cap="none" strike="noStrike">
              <a:solidFill>
                <a:schemeClr val="dk1"/>
              </a:solidFill>
              <a:latin typeface="Calibri"/>
              <a:ea typeface="Calibri"/>
              <a:cs typeface="Calibri"/>
              <a:sym typeface="Calibri"/>
            </a:endParaRPr>
          </a:p>
        </p:txBody>
      </p:sp>
      <p:sp>
        <p:nvSpPr>
          <p:cNvPr id="19" name="Google Shape;19;p1"/>
          <p:cNvSpPr txBox="1"/>
          <p:nvPr/>
        </p:nvSpPr>
        <p:spPr>
          <a:xfrm>
            <a:off x="731520" y="4206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1200"/>
              <a:buFont typeface="Calibri"/>
              <a:buNone/>
            </a:pPr>
            <a:r>
              <a:rPr lang="en-US" sz="1200">
                <a:solidFill>
                  <a:srgbClr val="999999"/>
                </a:solidFill>
                <a:latin typeface="Calibri"/>
                <a:ea typeface="Calibri"/>
                <a:cs typeface="Calibri"/>
                <a:sym typeface="Calibri"/>
              </a:rPr>
              <a:t>Prajna Dottakavi</a:t>
            </a:r>
            <a:r>
              <a:rPr b="0" i="0" lang="en-US" sz="1200" u="none" cap="none" strike="noStrike">
                <a:solidFill>
                  <a:srgbClr val="999999"/>
                </a:solidFill>
                <a:latin typeface="Calibri"/>
                <a:ea typeface="Calibri"/>
                <a:cs typeface="Calibri"/>
                <a:sym typeface="Calibri"/>
              </a:rPr>
              <a:t>  | </a:t>
            </a:r>
            <a:r>
              <a:rPr lang="en-US" sz="1200">
                <a:solidFill>
                  <a:srgbClr val="999999"/>
                </a:solidFill>
                <a:latin typeface="Calibri"/>
                <a:ea typeface="Calibri"/>
                <a:cs typeface="Calibri"/>
                <a:sym typeface="Calibri"/>
              </a:rPr>
              <a:t>25 September 2026</a:t>
            </a:r>
            <a:endParaRPr sz="1200">
              <a:solidFill>
                <a:srgbClr val="99999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2"/>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Business problem</a:t>
            </a:r>
            <a:endParaRPr b="0" i="0" sz="2600" u="none" cap="none" strike="noStrike">
              <a:solidFill>
                <a:schemeClr val="dk1"/>
              </a:solidFill>
              <a:latin typeface="Calibri"/>
              <a:ea typeface="Calibri"/>
              <a:cs typeface="Calibri"/>
              <a:sym typeface="Calibri"/>
            </a:endParaRPr>
          </a:p>
        </p:txBody>
      </p:sp>
      <p:sp>
        <p:nvSpPr>
          <p:cNvPr id="27" name="Google Shape;27;p2"/>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28" name="Google Shape;28;p2"/>
          <p:cNvSpPr txBox="1"/>
          <p:nvPr/>
        </p:nvSpPr>
        <p:spPr>
          <a:xfrm>
            <a:off x="457200" y="9144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500"/>
              <a:buFont typeface="Calibri"/>
              <a:buNone/>
            </a:pPr>
            <a:r>
              <a:rPr b="0" i="0" lang="en-US" sz="1500" u="none" cap="none" strike="noStrike">
                <a:solidFill>
                  <a:srgbClr val="6B6B6B"/>
                </a:solidFill>
                <a:latin typeface="Calibri"/>
                <a:ea typeface="Calibri"/>
                <a:cs typeface="Calibri"/>
                <a:sym typeface="Calibri"/>
              </a:rPr>
              <a:t>A food-delivery business needs to know where money is made, where it leaks, and what can be predicted.</a:t>
            </a:r>
            <a:endParaRPr b="0" i="0" sz="1500" u="none" cap="none" strike="noStrike">
              <a:solidFill>
                <a:schemeClr val="dk1"/>
              </a:solidFill>
              <a:latin typeface="Calibri"/>
              <a:ea typeface="Calibri"/>
              <a:cs typeface="Calibri"/>
              <a:sym typeface="Calibri"/>
            </a:endParaRPr>
          </a:p>
        </p:txBody>
      </p:sp>
      <p:sp>
        <p:nvSpPr>
          <p:cNvPr id="29" name="Google Shape;29;p2"/>
          <p:cNvSpPr/>
          <p:nvPr/>
        </p:nvSpPr>
        <p:spPr>
          <a:xfrm>
            <a:off x="457200" y="1645920"/>
            <a:ext cx="3931920" cy="137160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txBox="1"/>
          <p:nvPr/>
        </p:nvSpPr>
        <p:spPr>
          <a:xfrm>
            <a:off x="594360" y="17373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Where does revenue come from?</a:t>
            </a:r>
            <a:endParaRPr b="0" i="0" sz="1500" u="none" cap="none" strike="noStrike">
              <a:solidFill>
                <a:schemeClr val="dk1"/>
              </a:solidFill>
              <a:latin typeface="Calibri"/>
              <a:ea typeface="Calibri"/>
              <a:cs typeface="Calibri"/>
              <a:sym typeface="Calibri"/>
            </a:endParaRPr>
          </a:p>
        </p:txBody>
      </p:sp>
      <p:sp>
        <p:nvSpPr>
          <p:cNvPr id="31" name="Google Shape;31;p2"/>
          <p:cNvSpPr txBox="1"/>
          <p:nvPr/>
        </p:nvSpPr>
        <p:spPr>
          <a:xfrm>
            <a:off x="594360" y="2103120"/>
            <a:ext cx="3657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City, cuisine, restaurant and time of day.</a:t>
            </a:r>
            <a:endParaRPr b="0" i="0" sz="1200" u="none" cap="none" strike="noStrike">
              <a:solidFill>
                <a:schemeClr val="dk1"/>
              </a:solidFill>
              <a:latin typeface="Calibri"/>
              <a:ea typeface="Calibri"/>
              <a:cs typeface="Calibri"/>
              <a:sym typeface="Calibri"/>
            </a:endParaRPr>
          </a:p>
        </p:txBody>
      </p:sp>
      <p:sp>
        <p:nvSpPr>
          <p:cNvPr id="32" name="Google Shape;32;p2"/>
          <p:cNvSpPr/>
          <p:nvPr/>
        </p:nvSpPr>
        <p:spPr>
          <a:xfrm>
            <a:off x="4754880" y="1645920"/>
            <a:ext cx="3931920" cy="137160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txBox="1"/>
          <p:nvPr/>
        </p:nvSpPr>
        <p:spPr>
          <a:xfrm>
            <a:off x="4892040" y="17373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Why do orders fail?</a:t>
            </a:r>
            <a:endParaRPr b="0" i="0" sz="1500" u="none" cap="none" strike="noStrike">
              <a:solidFill>
                <a:schemeClr val="dk1"/>
              </a:solidFill>
              <a:latin typeface="Calibri"/>
              <a:ea typeface="Calibri"/>
              <a:cs typeface="Calibri"/>
              <a:sym typeface="Calibri"/>
            </a:endParaRPr>
          </a:p>
        </p:txBody>
      </p:sp>
      <p:sp>
        <p:nvSpPr>
          <p:cNvPr id="34" name="Google Shape;34;p2"/>
          <p:cNvSpPr txBox="1"/>
          <p:nvPr/>
        </p:nvSpPr>
        <p:spPr>
          <a:xfrm>
            <a:off x="4892040" y="2103120"/>
            <a:ext cx="3657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Cancelled, never delivered or delivered late.</a:t>
            </a:r>
            <a:endParaRPr b="0" i="0" sz="1200" u="none" cap="none" strike="noStrike">
              <a:solidFill>
                <a:schemeClr val="dk1"/>
              </a:solidFill>
              <a:latin typeface="Calibri"/>
              <a:ea typeface="Calibri"/>
              <a:cs typeface="Calibri"/>
              <a:sym typeface="Calibri"/>
            </a:endParaRPr>
          </a:p>
        </p:txBody>
      </p:sp>
      <p:sp>
        <p:nvSpPr>
          <p:cNvPr id="35" name="Google Shape;35;p2"/>
          <p:cNvSpPr/>
          <p:nvPr/>
        </p:nvSpPr>
        <p:spPr>
          <a:xfrm>
            <a:off x="457200" y="3200400"/>
            <a:ext cx="3931920" cy="137160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txBox="1"/>
          <p:nvPr/>
        </p:nvSpPr>
        <p:spPr>
          <a:xfrm>
            <a:off x="594360" y="329184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Can delivery time be predicted?</a:t>
            </a:r>
            <a:endParaRPr b="0" i="0" sz="1500" u="none" cap="none" strike="noStrike">
              <a:solidFill>
                <a:schemeClr val="dk1"/>
              </a:solidFill>
              <a:latin typeface="Calibri"/>
              <a:ea typeface="Calibri"/>
              <a:cs typeface="Calibri"/>
              <a:sym typeface="Calibri"/>
            </a:endParaRPr>
          </a:p>
        </p:txBody>
      </p:sp>
      <p:sp>
        <p:nvSpPr>
          <p:cNvPr id="37" name="Google Shape;37;p2"/>
          <p:cNvSpPr txBox="1"/>
          <p:nvPr/>
        </p:nvSpPr>
        <p:spPr>
          <a:xfrm>
            <a:off x="594360" y="3657600"/>
            <a:ext cx="3657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Traffic, weather, basket and partner data.</a:t>
            </a:r>
            <a:endParaRPr b="0" i="0" sz="1200" u="none" cap="none" strike="noStrike">
              <a:solidFill>
                <a:schemeClr val="dk1"/>
              </a:solidFill>
              <a:latin typeface="Calibri"/>
              <a:ea typeface="Calibri"/>
              <a:cs typeface="Calibri"/>
              <a:sym typeface="Calibri"/>
            </a:endParaRPr>
          </a:p>
        </p:txBody>
      </p:sp>
      <p:sp>
        <p:nvSpPr>
          <p:cNvPr id="38" name="Google Shape;38;p2"/>
          <p:cNvSpPr/>
          <p:nvPr/>
        </p:nvSpPr>
        <p:spPr>
          <a:xfrm>
            <a:off x="4754880" y="3200400"/>
            <a:ext cx="3931920" cy="137160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txBox="1"/>
          <p:nvPr/>
        </p:nvSpPr>
        <p:spPr>
          <a:xfrm>
            <a:off x="4892040" y="329184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Can churn be predicted?</a:t>
            </a:r>
            <a:endParaRPr b="0" i="0" sz="1500" u="none" cap="none" strike="noStrike">
              <a:solidFill>
                <a:schemeClr val="dk1"/>
              </a:solidFill>
              <a:latin typeface="Calibri"/>
              <a:ea typeface="Calibri"/>
              <a:cs typeface="Calibri"/>
              <a:sym typeface="Calibri"/>
            </a:endParaRPr>
          </a:p>
        </p:txBody>
      </p:sp>
      <p:sp>
        <p:nvSpPr>
          <p:cNvPr id="40" name="Google Shape;40;p2"/>
          <p:cNvSpPr txBox="1"/>
          <p:nvPr/>
        </p:nvSpPr>
        <p:spPr>
          <a:xfrm>
            <a:off x="4892040" y="3657600"/>
            <a:ext cx="36576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Who will not order in the next 60 days.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3"/>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Data architecture</a:t>
            </a:r>
            <a:endParaRPr b="0" i="0" sz="2600" u="none" cap="none" strike="noStrike">
              <a:solidFill>
                <a:schemeClr val="dk1"/>
              </a:solidFill>
              <a:latin typeface="Calibri"/>
              <a:ea typeface="Calibri"/>
              <a:cs typeface="Calibri"/>
              <a:sym typeface="Calibri"/>
            </a:endParaRPr>
          </a:p>
        </p:txBody>
      </p:sp>
      <p:sp>
        <p:nvSpPr>
          <p:cNvPr id="48" name="Google Shape;48;p3"/>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49" name="Google Shape;49;p3"/>
          <p:cNvSpPr/>
          <p:nvPr/>
        </p:nvSpPr>
        <p:spPr>
          <a:xfrm>
            <a:off x="457200" y="1371600"/>
            <a:ext cx="1691640" cy="1188720"/>
          </a:xfrm>
          <a:prstGeom prst="rect">
            <a:avLst/>
          </a:prstGeom>
          <a:solidFill>
            <a:srgbClr val="F6F6F6"/>
          </a:solidFill>
          <a:ln cap="flat" cmpd="sng" w="127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txBox="1"/>
          <p:nvPr/>
        </p:nvSpPr>
        <p:spPr>
          <a:xfrm>
            <a:off x="457200" y="1371600"/>
            <a:ext cx="169164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1400"/>
              <a:buFont typeface="Calibri"/>
              <a:buNone/>
            </a:pPr>
            <a:r>
              <a:rPr b="1" i="0" lang="en-US" sz="1400" u="none" cap="none" strike="noStrike">
                <a:solidFill>
                  <a:srgbClr val="1C1C1C"/>
                </a:solidFill>
                <a:latin typeface="Calibri"/>
                <a:ea typeface="Calibri"/>
                <a:cs typeface="Calibri"/>
                <a:sym typeface="Calibri"/>
              </a:rPr>
              <a:t>Raw data</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1C1C"/>
              </a:buClr>
              <a:buSzPts val="1100"/>
              <a:buFont typeface="Calibri"/>
              <a:buNone/>
            </a:pPr>
            <a:r>
              <a:rPr b="0" i="0" lang="en-US" sz="1100" u="none" cap="none" strike="noStrike">
                <a:solidFill>
                  <a:srgbClr val="1C1C1C"/>
                </a:solidFill>
                <a:latin typeface="Calibri"/>
                <a:ea typeface="Calibri"/>
                <a:cs typeface="Calibri"/>
                <a:sym typeface="Calibri"/>
              </a:rPr>
              <a:t>12 messy CSVs</a:t>
            </a:r>
            <a:endParaRPr b="0" i="0" sz="1400" u="none" cap="none" strike="noStrike">
              <a:solidFill>
                <a:schemeClr val="dk1"/>
              </a:solidFill>
              <a:latin typeface="Calibri"/>
              <a:ea typeface="Calibri"/>
              <a:cs typeface="Calibri"/>
              <a:sym typeface="Calibri"/>
            </a:endParaRPr>
          </a:p>
        </p:txBody>
      </p:sp>
      <p:cxnSp>
        <p:nvCxnSpPr>
          <p:cNvPr id="51" name="Google Shape;51;p3"/>
          <p:cNvCxnSpPr/>
          <p:nvPr/>
        </p:nvCxnSpPr>
        <p:spPr>
          <a:xfrm>
            <a:off x="2148840" y="1965960"/>
            <a:ext cx="274320" cy="0"/>
          </a:xfrm>
          <a:prstGeom prst="straightConnector1">
            <a:avLst/>
          </a:prstGeom>
          <a:noFill/>
          <a:ln cap="flat" cmpd="sng" w="25400">
            <a:solidFill>
              <a:srgbClr val="6B6B6B"/>
            </a:solidFill>
            <a:prstDash val="solid"/>
            <a:round/>
            <a:headEnd len="sm" w="sm" type="none"/>
            <a:tailEnd len="med" w="med" type="triangle"/>
          </a:ln>
        </p:spPr>
      </p:cxnSp>
      <p:sp>
        <p:nvSpPr>
          <p:cNvPr id="52" name="Google Shape;52;p3"/>
          <p:cNvSpPr/>
          <p:nvPr/>
        </p:nvSpPr>
        <p:spPr>
          <a:xfrm>
            <a:off x="2423160" y="1371600"/>
            <a:ext cx="1691640" cy="1188720"/>
          </a:xfrm>
          <a:prstGeom prst="rect">
            <a:avLst/>
          </a:prstGeom>
          <a:solidFill>
            <a:srgbClr val="F6F6F6"/>
          </a:solidFill>
          <a:ln cap="flat" cmpd="sng" w="127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txBox="1"/>
          <p:nvPr/>
        </p:nvSpPr>
        <p:spPr>
          <a:xfrm>
            <a:off x="2423160" y="1371600"/>
            <a:ext cx="169164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1400"/>
              <a:buFont typeface="Calibri"/>
              <a:buNone/>
            </a:pPr>
            <a:r>
              <a:rPr b="1" i="0" lang="en-US" sz="1400" u="none" cap="none" strike="noStrike">
                <a:solidFill>
                  <a:srgbClr val="1C1C1C"/>
                </a:solidFill>
                <a:latin typeface="Calibri"/>
                <a:ea typeface="Calibri"/>
                <a:cs typeface="Calibri"/>
                <a:sym typeface="Calibri"/>
              </a:rPr>
              <a:t>Cleaned data</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1C1C"/>
              </a:buClr>
              <a:buSzPts val="1100"/>
              <a:buFont typeface="Calibri"/>
              <a:buNone/>
            </a:pPr>
            <a:r>
              <a:rPr b="0" i="0" lang="en-US" sz="1100" u="none" cap="none" strike="noStrike">
                <a:solidFill>
                  <a:srgbClr val="1C1C1C"/>
                </a:solidFill>
                <a:latin typeface="Calibri"/>
                <a:ea typeface="Calibri"/>
                <a:cs typeface="Calibri"/>
                <a:sym typeface="Calibri"/>
              </a:rPr>
              <a:t>12 clean CSVs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1C1C"/>
              </a:buClr>
              <a:buSzPts val="1100"/>
              <a:buFont typeface="Calibri"/>
              <a:buNone/>
            </a:pPr>
            <a:r>
              <a:rPr b="0" i="0" lang="en-US" sz="1100" u="none" cap="none" strike="noStrike">
                <a:solidFill>
                  <a:srgbClr val="1C1C1C"/>
                </a:solidFill>
                <a:latin typeface="Calibri"/>
                <a:ea typeface="Calibri"/>
                <a:cs typeface="Calibri"/>
                <a:sym typeface="Calibri"/>
              </a:rPr>
              <a:t>src/clean.py</a:t>
            </a:r>
            <a:endParaRPr b="0" i="0" sz="1400" u="none" cap="none" strike="noStrike">
              <a:solidFill>
                <a:schemeClr val="dk1"/>
              </a:solidFill>
              <a:latin typeface="Calibri"/>
              <a:ea typeface="Calibri"/>
              <a:cs typeface="Calibri"/>
              <a:sym typeface="Calibri"/>
            </a:endParaRPr>
          </a:p>
        </p:txBody>
      </p:sp>
      <p:cxnSp>
        <p:nvCxnSpPr>
          <p:cNvPr id="54" name="Google Shape;54;p3"/>
          <p:cNvCxnSpPr/>
          <p:nvPr/>
        </p:nvCxnSpPr>
        <p:spPr>
          <a:xfrm>
            <a:off x="4114800" y="1965960"/>
            <a:ext cx="274320" cy="0"/>
          </a:xfrm>
          <a:prstGeom prst="straightConnector1">
            <a:avLst/>
          </a:prstGeom>
          <a:noFill/>
          <a:ln cap="flat" cmpd="sng" w="25400">
            <a:solidFill>
              <a:srgbClr val="6B6B6B"/>
            </a:solidFill>
            <a:prstDash val="solid"/>
            <a:round/>
            <a:headEnd len="sm" w="sm" type="none"/>
            <a:tailEnd len="med" w="med" type="triangle"/>
          </a:ln>
        </p:spPr>
      </p:cxnSp>
      <p:sp>
        <p:nvSpPr>
          <p:cNvPr id="55" name="Google Shape;55;p3"/>
          <p:cNvSpPr/>
          <p:nvPr/>
        </p:nvSpPr>
        <p:spPr>
          <a:xfrm>
            <a:off x="4389120" y="1371600"/>
            <a:ext cx="1691640" cy="118872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txBox="1"/>
          <p:nvPr/>
        </p:nvSpPr>
        <p:spPr>
          <a:xfrm>
            <a:off x="4389120" y="1371600"/>
            <a:ext cx="169164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Analytical layer</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3 tables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src/features.py</a:t>
            </a:r>
            <a:endParaRPr b="0" i="0" sz="1400" u="none" cap="none" strike="noStrike">
              <a:solidFill>
                <a:schemeClr val="dk1"/>
              </a:solidFill>
              <a:latin typeface="Calibri"/>
              <a:ea typeface="Calibri"/>
              <a:cs typeface="Calibri"/>
              <a:sym typeface="Calibri"/>
            </a:endParaRPr>
          </a:p>
        </p:txBody>
      </p:sp>
      <p:cxnSp>
        <p:nvCxnSpPr>
          <p:cNvPr id="57" name="Google Shape;57;p3"/>
          <p:cNvCxnSpPr/>
          <p:nvPr/>
        </p:nvCxnSpPr>
        <p:spPr>
          <a:xfrm>
            <a:off x="6217920" y="1965960"/>
            <a:ext cx="365760" cy="0"/>
          </a:xfrm>
          <a:prstGeom prst="straightConnector1">
            <a:avLst/>
          </a:prstGeom>
          <a:noFill/>
          <a:ln cap="flat" cmpd="sng" w="25400">
            <a:solidFill>
              <a:srgbClr val="6B6B6B"/>
            </a:solidFill>
            <a:prstDash val="solid"/>
            <a:round/>
            <a:headEnd len="sm" w="sm" type="none"/>
            <a:tailEnd len="med" w="med" type="triangle"/>
          </a:ln>
        </p:spPr>
      </p:cxnSp>
      <p:sp>
        <p:nvSpPr>
          <p:cNvPr id="58" name="Google Shape;58;p3"/>
          <p:cNvSpPr/>
          <p:nvPr/>
        </p:nvSpPr>
        <p:spPr>
          <a:xfrm>
            <a:off x="6675120" y="914400"/>
            <a:ext cx="2011680" cy="731520"/>
          </a:xfrm>
          <a:prstGeom prst="rect">
            <a:avLst/>
          </a:prstGeom>
          <a:solidFill>
            <a:srgbClr val="F6F6F6"/>
          </a:solidFill>
          <a:ln cap="flat" cmpd="sng" w="127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6675120" y="914400"/>
            <a:ext cx="20116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1300"/>
              <a:buFont typeface="Calibri"/>
              <a:buNone/>
            </a:pPr>
            <a:r>
              <a:rPr b="1" i="0" lang="en-US" sz="1300" u="none" cap="none" strike="noStrike">
                <a:solidFill>
                  <a:srgbClr val="1C1C1C"/>
                </a:solidFill>
                <a:latin typeface="Calibri"/>
                <a:ea typeface="Calibri"/>
                <a:cs typeface="Calibri"/>
                <a:sym typeface="Calibri"/>
              </a:rPr>
              <a:t>EDA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30 charts</a:t>
            </a:r>
            <a:endParaRPr b="0" i="0" sz="1300" u="none" cap="none" strike="noStrike">
              <a:solidFill>
                <a:schemeClr val="dk1"/>
              </a:solidFill>
              <a:latin typeface="Calibri"/>
              <a:ea typeface="Calibri"/>
              <a:cs typeface="Calibri"/>
              <a:sym typeface="Calibri"/>
            </a:endParaRPr>
          </a:p>
        </p:txBody>
      </p:sp>
      <p:sp>
        <p:nvSpPr>
          <p:cNvPr id="60" name="Google Shape;60;p3"/>
          <p:cNvSpPr/>
          <p:nvPr/>
        </p:nvSpPr>
        <p:spPr>
          <a:xfrm>
            <a:off x="6675120" y="1783080"/>
            <a:ext cx="2011680" cy="731520"/>
          </a:xfrm>
          <a:prstGeom prst="rect">
            <a:avLst/>
          </a:prstGeom>
          <a:solidFill>
            <a:srgbClr val="F6F6F6"/>
          </a:solidFill>
          <a:ln cap="flat" cmpd="sng" w="127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6675120" y="1783080"/>
            <a:ext cx="20116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1300"/>
              <a:buFont typeface="Calibri"/>
              <a:buNone/>
            </a:pPr>
            <a:r>
              <a:rPr b="1" i="0" lang="en-US" sz="1300" u="none" cap="none" strike="noStrike">
                <a:solidFill>
                  <a:srgbClr val="1C1C1C"/>
                </a:solidFill>
                <a:latin typeface="Calibri"/>
                <a:ea typeface="Calibri"/>
                <a:cs typeface="Calibri"/>
                <a:sym typeface="Calibri"/>
              </a:rPr>
              <a:t>Machine learning</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Delivery + churn</a:t>
            </a:r>
            <a:endParaRPr b="0" i="0" sz="1300" u="none" cap="none" strike="noStrike">
              <a:solidFill>
                <a:schemeClr val="dk1"/>
              </a:solidFill>
              <a:latin typeface="Calibri"/>
              <a:ea typeface="Calibri"/>
              <a:cs typeface="Calibri"/>
              <a:sym typeface="Calibri"/>
            </a:endParaRPr>
          </a:p>
        </p:txBody>
      </p:sp>
      <p:sp>
        <p:nvSpPr>
          <p:cNvPr id="62" name="Google Shape;62;p3"/>
          <p:cNvSpPr/>
          <p:nvPr/>
        </p:nvSpPr>
        <p:spPr>
          <a:xfrm>
            <a:off x="6675120" y="2651760"/>
            <a:ext cx="2011680" cy="731520"/>
          </a:xfrm>
          <a:prstGeom prst="rect">
            <a:avLst/>
          </a:prstGeom>
          <a:solidFill>
            <a:srgbClr val="F6F6F6"/>
          </a:solidFill>
          <a:ln cap="flat" cmpd="sng" w="12700">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txBox="1"/>
          <p:nvPr/>
        </p:nvSpPr>
        <p:spPr>
          <a:xfrm>
            <a:off x="6675120" y="2651760"/>
            <a:ext cx="20116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1C1C"/>
              </a:buClr>
              <a:buSzPts val="1300"/>
              <a:buFont typeface="Calibri"/>
              <a:buNone/>
            </a:pPr>
            <a:r>
              <a:rPr b="1" i="0" lang="en-US" sz="1300" u="none" cap="none" strike="noStrike">
                <a:solidFill>
                  <a:srgbClr val="1C1C1C"/>
                </a:solidFill>
                <a:latin typeface="Calibri"/>
                <a:ea typeface="Calibri"/>
                <a:cs typeface="Calibri"/>
                <a:sym typeface="Calibri"/>
              </a:rPr>
              <a:t>Power BI</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6 pages</a:t>
            </a:r>
            <a:endParaRPr b="0" i="0" sz="1300" u="none" cap="none" strike="noStrike">
              <a:solidFill>
                <a:schemeClr val="dk1"/>
              </a:solidFill>
              <a:latin typeface="Calibri"/>
              <a:ea typeface="Calibri"/>
              <a:cs typeface="Calibri"/>
              <a:sym typeface="Calibri"/>
            </a:endParaRPr>
          </a:p>
        </p:txBody>
      </p:sp>
      <p:sp>
        <p:nvSpPr>
          <p:cNvPr id="64" name="Google Shape;64;p3"/>
          <p:cNvSpPr txBox="1"/>
          <p:nvPr/>
        </p:nvSpPr>
        <p:spPr>
          <a:xfrm>
            <a:off x="457200" y="3108960"/>
            <a:ext cx="5852160" cy="14630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400"/>
              <a:buFont typeface="Calibri"/>
              <a:buChar char="•"/>
            </a:pPr>
            <a:r>
              <a:rPr b="0" i="0" lang="en-US" sz="1400" u="none" cap="none" strike="noStrike">
                <a:solidFill>
                  <a:srgbClr val="1C1C1C"/>
                </a:solidFill>
                <a:latin typeface="Calibri"/>
                <a:ea typeface="Calibri"/>
                <a:cs typeface="Calibri"/>
                <a:sym typeface="Calibri"/>
              </a:rPr>
              <a:t>One trusted analytical layer feeds everything downstream</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400"/>
              <a:buFont typeface="Calibri"/>
              <a:buChar char="•"/>
            </a:pPr>
            <a:r>
              <a:rPr b="0" i="0" lang="en-US" sz="1400" u="none" cap="none" strike="noStrike">
                <a:solidFill>
                  <a:srgbClr val="1C1C1C"/>
                </a:solidFill>
                <a:latin typeface="Calibri"/>
                <a:ea typeface="Calibri"/>
                <a:cs typeface="Calibri"/>
                <a:sym typeface="Calibri"/>
              </a:rPr>
              <a:t>Code is split into small, readable modules: ingest, clean, features, models</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400"/>
              <a:buFont typeface="Calibri"/>
              <a:buChar char="•"/>
            </a:pPr>
            <a:r>
              <a:rPr b="0" i="0" lang="en-US" sz="1400" u="none" cap="none" strike="noStrike">
                <a:solidFill>
                  <a:srgbClr val="1C1C1C"/>
                </a:solidFill>
                <a:latin typeface="Calibri"/>
                <a:ea typeface="Calibri"/>
                <a:cs typeface="Calibri"/>
                <a:sym typeface="Calibri"/>
              </a:rPr>
              <a:t>Notebooks call the modules and show the results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4"/>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Data quality and cleaning</a:t>
            </a:r>
            <a:endParaRPr b="0" i="0" sz="2600" u="none" cap="none" strike="noStrike">
              <a:solidFill>
                <a:schemeClr val="dk1"/>
              </a:solidFill>
              <a:latin typeface="Calibri"/>
              <a:ea typeface="Calibri"/>
              <a:cs typeface="Calibri"/>
              <a:sym typeface="Calibri"/>
            </a:endParaRPr>
          </a:p>
        </p:txBody>
      </p:sp>
      <p:sp>
        <p:nvSpPr>
          <p:cNvPr id="72" name="Google Shape;72;p4"/>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73" name="Google Shape;73;p4"/>
          <p:cNvSpPr txBox="1"/>
          <p:nvPr/>
        </p:nvSpPr>
        <p:spPr>
          <a:xfrm>
            <a:off x="457200" y="1097280"/>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205</a:t>
            </a:r>
            <a:endParaRPr b="0" i="0" sz="3000" u="none" cap="none" strike="noStrike">
              <a:solidFill>
                <a:schemeClr val="dk1"/>
              </a:solidFill>
              <a:latin typeface="Calibri"/>
              <a:ea typeface="Calibri"/>
              <a:cs typeface="Calibri"/>
              <a:sym typeface="Calibri"/>
            </a:endParaRPr>
          </a:p>
        </p:txBody>
      </p:sp>
      <p:sp>
        <p:nvSpPr>
          <p:cNvPr id="74" name="Google Shape;74;p4"/>
          <p:cNvSpPr txBox="1"/>
          <p:nvPr/>
        </p:nvSpPr>
        <p:spPr>
          <a:xfrm>
            <a:off x="457200" y="1645920"/>
            <a:ext cx="1920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duplicate orders removed</a:t>
            </a:r>
            <a:endParaRPr b="0" i="0" sz="1100" u="none" cap="none" strike="noStrike">
              <a:solidFill>
                <a:schemeClr val="dk1"/>
              </a:solidFill>
              <a:latin typeface="Calibri"/>
              <a:ea typeface="Calibri"/>
              <a:cs typeface="Calibri"/>
              <a:sym typeface="Calibri"/>
            </a:endParaRPr>
          </a:p>
        </p:txBody>
      </p:sp>
      <p:sp>
        <p:nvSpPr>
          <p:cNvPr id="75" name="Google Shape;75;p4"/>
          <p:cNvSpPr txBox="1"/>
          <p:nvPr/>
        </p:nvSpPr>
        <p:spPr>
          <a:xfrm>
            <a:off x="2560320" y="1097280"/>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180</a:t>
            </a:r>
            <a:endParaRPr b="0" i="0" sz="3000" u="none" cap="none" strike="noStrike">
              <a:solidFill>
                <a:schemeClr val="dk1"/>
              </a:solidFill>
              <a:latin typeface="Calibri"/>
              <a:ea typeface="Calibri"/>
              <a:cs typeface="Calibri"/>
              <a:sym typeface="Calibri"/>
            </a:endParaRPr>
          </a:p>
        </p:txBody>
      </p:sp>
      <p:sp>
        <p:nvSpPr>
          <p:cNvPr id="76" name="Google Shape;76;p4"/>
          <p:cNvSpPr txBox="1"/>
          <p:nvPr/>
        </p:nvSpPr>
        <p:spPr>
          <a:xfrm>
            <a:off x="2560320" y="1645920"/>
            <a:ext cx="1920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duplicate customers removed</a:t>
            </a:r>
            <a:endParaRPr b="0" i="0" sz="1100" u="none" cap="none" strike="noStrike">
              <a:solidFill>
                <a:schemeClr val="dk1"/>
              </a:solidFill>
              <a:latin typeface="Calibri"/>
              <a:ea typeface="Calibri"/>
              <a:cs typeface="Calibri"/>
              <a:sym typeface="Calibri"/>
            </a:endParaRPr>
          </a:p>
        </p:txBody>
      </p:sp>
      <p:sp>
        <p:nvSpPr>
          <p:cNvPr id="77" name="Google Shape;77;p4"/>
          <p:cNvSpPr txBox="1"/>
          <p:nvPr/>
        </p:nvSpPr>
        <p:spPr>
          <a:xfrm>
            <a:off x="4663440" y="1097280"/>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230</a:t>
            </a:r>
            <a:endParaRPr b="0" i="0" sz="3000" u="none" cap="none" strike="noStrike">
              <a:solidFill>
                <a:schemeClr val="dk1"/>
              </a:solidFill>
              <a:latin typeface="Calibri"/>
              <a:ea typeface="Calibri"/>
              <a:cs typeface="Calibri"/>
              <a:sym typeface="Calibri"/>
            </a:endParaRPr>
          </a:p>
        </p:txBody>
      </p:sp>
      <p:sp>
        <p:nvSpPr>
          <p:cNvPr id="78" name="Google Shape;78;p4"/>
          <p:cNvSpPr txBox="1"/>
          <p:nvPr/>
        </p:nvSpPr>
        <p:spPr>
          <a:xfrm>
            <a:off x="4663440" y="1645920"/>
            <a:ext cx="1920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conflicting feedback rows dropped</a:t>
            </a:r>
            <a:endParaRPr b="0" i="0" sz="1100" u="none" cap="none" strike="noStrike">
              <a:solidFill>
                <a:schemeClr val="dk1"/>
              </a:solidFill>
              <a:latin typeface="Calibri"/>
              <a:ea typeface="Calibri"/>
              <a:cs typeface="Calibri"/>
              <a:sym typeface="Calibri"/>
            </a:endParaRPr>
          </a:p>
        </p:txBody>
      </p:sp>
      <p:sp>
        <p:nvSpPr>
          <p:cNvPr id="79" name="Google Shape;79;p4"/>
          <p:cNvSpPr txBox="1"/>
          <p:nvPr/>
        </p:nvSpPr>
        <p:spPr>
          <a:xfrm>
            <a:off x="6766560" y="1097280"/>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12 / 12</a:t>
            </a:r>
            <a:endParaRPr b="0" i="0" sz="3000" u="none" cap="none" strike="noStrike">
              <a:solidFill>
                <a:schemeClr val="dk1"/>
              </a:solidFill>
              <a:latin typeface="Calibri"/>
              <a:ea typeface="Calibri"/>
              <a:cs typeface="Calibri"/>
              <a:sym typeface="Calibri"/>
            </a:endParaRPr>
          </a:p>
        </p:txBody>
      </p:sp>
      <p:sp>
        <p:nvSpPr>
          <p:cNvPr id="80" name="Google Shape;80;p4"/>
          <p:cNvSpPr txBox="1"/>
          <p:nvPr/>
        </p:nvSpPr>
        <p:spPr>
          <a:xfrm>
            <a:off x="6766560" y="1645920"/>
            <a:ext cx="1920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quality checks pass on analytical tables</a:t>
            </a:r>
            <a:endParaRPr b="0" i="0" sz="1100" u="none" cap="none" strike="noStrike">
              <a:solidFill>
                <a:schemeClr val="dk1"/>
              </a:solidFill>
              <a:latin typeface="Calibri"/>
              <a:ea typeface="Calibri"/>
              <a:cs typeface="Calibri"/>
              <a:sym typeface="Calibri"/>
            </a:endParaRPr>
          </a:p>
        </p:txBody>
      </p:sp>
      <p:sp>
        <p:nvSpPr>
          <p:cNvPr id="81" name="Google Shape;81;p4"/>
          <p:cNvSpPr txBox="1"/>
          <p:nvPr/>
        </p:nvSpPr>
        <p:spPr>
          <a:xfrm>
            <a:off x="457200" y="2560320"/>
            <a:ext cx="8229600" cy="20116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500"/>
              <a:buFont typeface="Calibri"/>
              <a:buChar char="•"/>
            </a:pPr>
            <a:r>
              <a:rPr b="0" i="0" lang="en-US" sz="1500" u="none" cap="none" strike="noStrike">
                <a:solidFill>
                  <a:srgbClr val="1C1C1C"/>
                </a:solidFill>
                <a:latin typeface="Calibri"/>
                <a:ea typeface="Calibri"/>
                <a:cs typeface="Calibri"/>
                <a:sym typeface="Calibri"/>
              </a:rPr>
              <a:t>Mixed date formats parsed only when unambiguous; 1,737 order dates recovered from payment dates</a:t>
            </a:r>
            <a:endParaRPr b="0" i="0" sz="15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500"/>
              <a:buFont typeface="Calibri"/>
              <a:buChar char="•"/>
            </a:pPr>
            <a:r>
              <a:rPr b="0" i="0" lang="en-US" sz="1500" u="none" cap="none" strike="noStrike">
                <a:solidFill>
                  <a:srgbClr val="1C1C1C"/>
                </a:solidFill>
                <a:latin typeface="Calibri"/>
                <a:ea typeface="Calibri"/>
                <a:cs typeface="Calibri"/>
                <a:sym typeface="Calibri"/>
              </a:rPr>
              <a:t>City names standardised to 25 canonical cities; negative amounts fixed only when cross-checked</a:t>
            </a:r>
            <a:endParaRPr b="0" i="0" sz="15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500"/>
              <a:buFont typeface="Calibri"/>
              <a:buChar char="•"/>
            </a:pPr>
            <a:r>
              <a:rPr b="0" i="0" lang="en-US" sz="1500" u="none" cap="none" strike="noStrike">
                <a:solidFill>
                  <a:srgbClr val="1C1C1C"/>
                </a:solidFill>
                <a:latin typeface="Calibri"/>
                <a:ea typeface="Calibri"/>
                <a:cs typeface="Calibri"/>
                <a:sym typeface="Calibri"/>
              </a:rPr>
              <a:t>Missing values left blank, not invented (weather and traffic readings are missing for about 46% of orders)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5"/>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Analytical dataset</a:t>
            </a:r>
            <a:endParaRPr b="0" i="0" sz="2600" u="none" cap="none" strike="noStrike">
              <a:solidFill>
                <a:schemeClr val="dk1"/>
              </a:solidFill>
              <a:latin typeface="Calibri"/>
              <a:ea typeface="Calibri"/>
              <a:cs typeface="Calibri"/>
              <a:sym typeface="Calibri"/>
            </a:endParaRPr>
          </a:p>
        </p:txBody>
      </p:sp>
      <p:sp>
        <p:nvSpPr>
          <p:cNvPr id="89" name="Google Shape;89;p5"/>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90" name="Google Shape;90;p5"/>
          <p:cNvSpPr/>
          <p:nvPr/>
        </p:nvSpPr>
        <p:spPr>
          <a:xfrm>
            <a:off x="457200" y="1097280"/>
            <a:ext cx="2651760" cy="210312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txBox="1"/>
          <p:nvPr/>
        </p:nvSpPr>
        <p:spPr>
          <a:xfrm>
            <a:off x="594360" y="118872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Orders</a:t>
            </a:r>
            <a:endParaRPr b="0" i="0" sz="1500" u="none" cap="none" strike="noStrike">
              <a:solidFill>
                <a:schemeClr val="dk1"/>
              </a:solidFill>
              <a:latin typeface="Calibri"/>
              <a:ea typeface="Calibri"/>
              <a:cs typeface="Calibri"/>
              <a:sym typeface="Calibri"/>
            </a:endParaRPr>
          </a:p>
        </p:txBody>
      </p:sp>
      <p:sp>
        <p:nvSpPr>
          <p:cNvPr id="92" name="Google Shape;92;p5"/>
          <p:cNvSpPr txBox="1"/>
          <p:nvPr/>
        </p:nvSpPr>
        <p:spPr>
          <a:xfrm>
            <a:off x="594360" y="1554480"/>
            <a:ext cx="23774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20,475 rows x 74 columns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One row per order: customer, restaurant, partner, weather, traffic and delivery details.</a:t>
            </a:r>
            <a:endParaRPr b="0" i="0" sz="1200" u="none" cap="none" strike="noStrike">
              <a:solidFill>
                <a:schemeClr val="dk1"/>
              </a:solidFill>
              <a:latin typeface="Calibri"/>
              <a:ea typeface="Calibri"/>
              <a:cs typeface="Calibri"/>
              <a:sym typeface="Calibri"/>
            </a:endParaRPr>
          </a:p>
        </p:txBody>
      </p:sp>
      <p:sp>
        <p:nvSpPr>
          <p:cNvPr id="93" name="Google Shape;93;p5"/>
          <p:cNvSpPr/>
          <p:nvPr/>
        </p:nvSpPr>
        <p:spPr>
          <a:xfrm>
            <a:off x="3246120" y="1097280"/>
            <a:ext cx="2651760" cy="210312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txBox="1"/>
          <p:nvPr/>
        </p:nvSpPr>
        <p:spPr>
          <a:xfrm>
            <a:off x="3383280" y="118872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Customers</a:t>
            </a:r>
            <a:endParaRPr b="0" i="0" sz="1500" u="none" cap="none" strike="noStrike">
              <a:solidFill>
                <a:schemeClr val="dk1"/>
              </a:solidFill>
              <a:latin typeface="Calibri"/>
              <a:ea typeface="Calibri"/>
              <a:cs typeface="Calibri"/>
              <a:sym typeface="Calibri"/>
            </a:endParaRPr>
          </a:p>
        </p:txBody>
      </p:sp>
      <p:sp>
        <p:nvSpPr>
          <p:cNvPr id="95" name="Google Shape;95;p5"/>
          <p:cNvSpPr txBox="1"/>
          <p:nvPr/>
        </p:nvSpPr>
        <p:spPr>
          <a:xfrm>
            <a:off x="3383280" y="1554480"/>
            <a:ext cx="23774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9,254 rows x 24 columns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Time-aware churn label: features before 2024-11-01, outcome in the next 60 days.</a:t>
            </a:r>
            <a:endParaRPr b="0" i="0" sz="1200" u="none" cap="none" strike="noStrike">
              <a:solidFill>
                <a:schemeClr val="dk1"/>
              </a:solidFill>
              <a:latin typeface="Calibri"/>
              <a:ea typeface="Calibri"/>
              <a:cs typeface="Calibri"/>
              <a:sym typeface="Calibri"/>
            </a:endParaRPr>
          </a:p>
        </p:txBody>
      </p:sp>
      <p:sp>
        <p:nvSpPr>
          <p:cNvPr id="96" name="Google Shape;96;p5"/>
          <p:cNvSpPr/>
          <p:nvPr/>
        </p:nvSpPr>
        <p:spPr>
          <a:xfrm>
            <a:off x="6035040" y="1097280"/>
            <a:ext cx="2651760" cy="210312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txBox="1"/>
          <p:nvPr/>
        </p:nvSpPr>
        <p:spPr>
          <a:xfrm>
            <a:off x="6172200" y="118872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Restaurants</a:t>
            </a:r>
            <a:endParaRPr b="0" i="0" sz="1500" u="none" cap="none" strike="noStrike">
              <a:solidFill>
                <a:schemeClr val="dk1"/>
              </a:solidFill>
              <a:latin typeface="Calibri"/>
              <a:ea typeface="Calibri"/>
              <a:cs typeface="Calibri"/>
              <a:sym typeface="Calibri"/>
            </a:endParaRPr>
          </a:p>
        </p:txBody>
      </p:sp>
      <p:sp>
        <p:nvSpPr>
          <p:cNvPr id="98" name="Google Shape;98;p5"/>
          <p:cNvSpPr txBox="1"/>
          <p:nvPr/>
        </p:nvSpPr>
        <p:spPr>
          <a:xfrm>
            <a:off x="6172200" y="1554480"/>
            <a:ext cx="23774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1,200 rows x 20 columns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Revenue, cancellation, late rate and a documented PerformanceScore.</a:t>
            </a:r>
            <a:endParaRPr b="0" i="0" sz="1200" u="none" cap="none" strike="noStrike">
              <a:solidFill>
                <a:schemeClr val="dk1"/>
              </a:solidFill>
              <a:latin typeface="Calibri"/>
              <a:ea typeface="Calibri"/>
              <a:cs typeface="Calibri"/>
              <a:sym typeface="Calibri"/>
            </a:endParaRPr>
          </a:p>
        </p:txBody>
      </p:sp>
      <p:sp>
        <p:nvSpPr>
          <p:cNvPr id="99" name="Google Shape;99;p5"/>
          <p:cNvSpPr txBox="1"/>
          <p:nvPr/>
        </p:nvSpPr>
        <p:spPr>
          <a:xfrm>
            <a:off x="457200" y="3429000"/>
            <a:ext cx="8229600" cy="11887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400"/>
              <a:buFont typeface="Calibri"/>
              <a:buChar char="•"/>
            </a:pPr>
            <a:r>
              <a:rPr b="0" i="0" lang="en-US" sz="1400" u="none" cap="none" strike="noStrike">
                <a:solidFill>
                  <a:srgbClr val="1C1C1C"/>
                </a:solidFill>
                <a:latin typeface="Calibri"/>
                <a:ea typeface="Calibri"/>
                <a:cs typeface="Calibri"/>
                <a:sym typeface="Calibri"/>
              </a:rPr>
              <a:t>25+ engineered features: peak hour, tenure, lifetime value, delivery efficiency, rain impact, basket size</a:t>
            </a:r>
            <a:endParaRPr b="0" i="0" sz="14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400"/>
              <a:buFont typeface="Calibri"/>
              <a:buChar char="•"/>
            </a:pPr>
            <a:r>
              <a:rPr b="0" i="0" lang="en-US" sz="1400" u="none" cap="none" strike="noStrike">
                <a:solidFill>
                  <a:srgbClr val="1C1C1C"/>
                </a:solidFill>
                <a:latin typeface="Calibri"/>
                <a:ea typeface="Calibri"/>
                <a:cs typeface="Calibri"/>
                <a:sym typeface="Calibri"/>
              </a:rPr>
              <a:t>Limitation stated openly: restaurant-to-customer distance is unavailable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6"/>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SQL insights: headline business metrics</a:t>
            </a:r>
            <a:endParaRPr b="0" i="0" sz="2600" u="none" cap="none" strike="noStrike">
              <a:solidFill>
                <a:schemeClr val="dk1"/>
              </a:solidFill>
              <a:latin typeface="Calibri"/>
              <a:ea typeface="Calibri"/>
              <a:cs typeface="Calibri"/>
              <a:sym typeface="Calibri"/>
            </a:endParaRPr>
          </a:p>
        </p:txBody>
      </p:sp>
      <p:sp>
        <p:nvSpPr>
          <p:cNvPr id="107" name="Google Shape;107;p6"/>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08" name="Google Shape;108;p6"/>
          <p:cNvSpPr txBox="1"/>
          <p:nvPr/>
        </p:nvSpPr>
        <p:spPr>
          <a:xfrm>
            <a:off x="457200" y="109728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Rs 5.31M</a:t>
            </a:r>
            <a:endParaRPr b="0" i="0" sz="3000" u="none" cap="none" strike="noStrike">
              <a:solidFill>
                <a:schemeClr val="dk1"/>
              </a:solidFill>
              <a:latin typeface="Calibri"/>
              <a:ea typeface="Calibri"/>
              <a:cs typeface="Calibri"/>
              <a:sym typeface="Calibri"/>
            </a:endParaRPr>
          </a:p>
        </p:txBody>
      </p:sp>
      <p:sp>
        <p:nvSpPr>
          <p:cNvPr id="109" name="Google Shape;109;p6"/>
          <p:cNvSpPr txBox="1"/>
          <p:nvPr/>
        </p:nvSpPr>
        <p:spPr>
          <a:xfrm>
            <a:off x="457200" y="1645920"/>
            <a:ext cx="26517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Revenue (delivered orders)</a:t>
            </a:r>
            <a:endParaRPr b="0" i="0" sz="1100" u="none" cap="none" strike="noStrike">
              <a:solidFill>
                <a:schemeClr val="dk1"/>
              </a:solidFill>
              <a:latin typeface="Calibri"/>
              <a:ea typeface="Calibri"/>
              <a:cs typeface="Calibri"/>
              <a:sym typeface="Calibri"/>
            </a:endParaRPr>
          </a:p>
        </p:txBody>
      </p:sp>
      <p:sp>
        <p:nvSpPr>
          <p:cNvPr id="110" name="Google Shape;110;p6"/>
          <p:cNvSpPr txBox="1"/>
          <p:nvPr/>
        </p:nvSpPr>
        <p:spPr>
          <a:xfrm>
            <a:off x="3291840" y="109728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20,475</a:t>
            </a:r>
            <a:endParaRPr b="0" i="0" sz="3000" u="none" cap="none" strike="noStrike">
              <a:solidFill>
                <a:schemeClr val="dk1"/>
              </a:solidFill>
              <a:latin typeface="Calibri"/>
              <a:ea typeface="Calibri"/>
              <a:cs typeface="Calibri"/>
              <a:sym typeface="Calibri"/>
            </a:endParaRPr>
          </a:p>
        </p:txBody>
      </p:sp>
      <p:sp>
        <p:nvSpPr>
          <p:cNvPr id="111" name="Google Shape;111;p6"/>
          <p:cNvSpPr txBox="1"/>
          <p:nvPr/>
        </p:nvSpPr>
        <p:spPr>
          <a:xfrm>
            <a:off x="3291840" y="1645920"/>
            <a:ext cx="26517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Orders placed</a:t>
            </a:r>
            <a:endParaRPr b="0" i="0" sz="1100" u="none" cap="none" strike="noStrike">
              <a:solidFill>
                <a:schemeClr val="dk1"/>
              </a:solidFill>
              <a:latin typeface="Calibri"/>
              <a:ea typeface="Calibri"/>
              <a:cs typeface="Calibri"/>
              <a:sym typeface="Calibri"/>
            </a:endParaRPr>
          </a:p>
        </p:txBody>
      </p:sp>
      <p:sp>
        <p:nvSpPr>
          <p:cNvPr id="112" name="Google Shape;112;p6"/>
          <p:cNvSpPr txBox="1"/>
          <p:nvPr/>
        </p:nvSpPr>
        <p:spPr>
          <a:xfrm>
            <a:off x="6126480" y="109728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Rs 392</a:t>
            </a:r>
            <a:endParaRPr b="0" i="0" sz="3000" u="none" cap="none" strike="noStrike">
              <a:solidFill>
                <a:schemeClr val="dk1"/>
              </a:solidFill>
              <a:latin typeface="Calibri"/>
              <a:ea typeface="Calibri"/>
              <a:cs typeface="Calibri"/>
              <a:sym typeface="Calibri"/>
            </a:endParaRPr>
          </a:p>
        </p:txBody>
      </p:sp>
      <p:sp>
        <p:nvSpPr>
          <p:cNvPr id="113" name="Google Shape;113;p6"/>
          <p:cNvSpPr txBox="1"/>
          <p:nvPr/>
        </p:nvSpPr>
        <p:spPr>
          <a:xfrm>
            <a:off x="6126480" y="1645920"/>
            <a:ext cx="26517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Average order value</a:t>
            </a:r>
            <a:endParaRPr b="0" i="0" sz="1100" u="none" cap="none" strike="noStrike">
              <a:solidFill>
                <a:schemeClr val="dk1"/>
              </a:solidFill>
              <a:latin typeface="Calibri"/>
              <a:ea typeface="Calibri"/>
              <a:cs typeface="Calibri"/>
              <a:sym typeface="Calibri"/>
            </a:endParaRPr>
          </a:p>
        </p:txBody>
      </p:sp>
      <p:sp>
        <p:nvSpPr>
          <p:cNvPr id="114" name="Google Shape;114;p6"/>
          <p:cNvSpPr txBox="1"/>
          <p:nvPr/>
        </p:nvSpPr>
        <p:spPr>
          <a:xfrm>
            <a:off x="457200" y="246888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22.3%</a:t>
            </a:r>
            <a:endParaRPr b="0" i="0" sz="3000" u="none" cap="none" strike="noStrike">
              <a:solidFill>
                <a:schemeClr val="dk1"/>
              </a:solidFill>
              <a:latin typeface="Calibri"/>
              <a:ea typeface="Calibri"/>
              <a:cs typeface="Calibri"/>
              <a:sym typeface="Calibri"/>
            </a:endParaRPr>
          </a:p>
        </p:txBody>
      </p:sp>
      <p:sp>
        <p:nvSpPr>
          <p:cNvPr id="115" name="Google Shape;115;p6"/>
          <p:cNvSpPr txBox="1"/>
          <p:nvPr/>
        </p:nvSpPr>
        <p:spPr>
          <a:xfrm>
            <a:off x="457200" y="3017520"/>
            <a:ext cx="26517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Cancellation rate</a:t>
            </a:r>
            <a:endParaRPr b="0" i="0" sz="1100" u="none" cap="none" strike="noStrike">
              <a:solidFill>
                <a:schemeClr val="dk1"/>
              </a:solidFill>
              <a:latin typeface="Calibri"/>
              <a:ea typeface="Calibri"/>
              <a:cs typeface="Calibri"/>
              <a:sym typeface="Calibri"/>
            </a:endParaRPr>
          </a:p>
        </p:txBody>
      </p:sp>
      <p:sp>
        <p:nvSpPr>
          <p:cNvPr id="116" name="Google Shape;116;p6"/>
          <p:cNvSpPr txBox="1"/>
          <p:nvPr/>
        </p:nvSpPr>
        <p:spPr>
          <a:xfrm>
            <a:off x="3291840" y="246888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15.9%</a:t>
            </a:r>
            <a:endParaRPr b="0" i="0" sz="3000" u="none" cap="none" strike="noStrike">
              <a:solidFill>
                <a:schemeClr val="dk1"/>
              </a:solidFill>
              <a:latin typeface="Calibri"/>
              <a:ea typeface="Calibri"/>
              <a:cs typeface="Calibri"/>
              <a:sym typeface="Calibri"/>
            </a:endParaRPr>
          </a:p>
        </p:txBody>
      </p:sp>
      <p:sp>
        <p:nvSpPr>
          <p:cNvPr id="117" name="Google Shape;117;p6"/>
          <p:cNvSpPr txBox="1"/>
          <p:nvPr/>
        </p:nvSpPr>
        <p:spPr>
          <a:xfrm>
            <a:off x="3291840" y="3017520"/>
            <a:ext cx="26517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Late deliveries (of delivered)</a:t>
            </a:r>
            <a:endParaRPr b="0" i="0" sz="1100" u="none" cap="none" strike="noStrike">
              <a:solidFill>
                <a:schemeClr val="dk1"/>
              </a:solidFill>
              <a:latin typeface="Calibri"/>
              <a:ea typeface="Calibri"/>
              <a:cs typeface="Calibri"/>
              <a:sym typeface="Calibri"/>
            </a:endParaRPr>
          </a:p>
        </p:txBody>
      </p:sp>
      <p:sp>
        <p:nvSpPr>
          <p:cNvPr id="118" name="Google Shape;118;p6"/>
          <p:cNvSpPr txBox="1"/>
          <p:nvPr/>
        </p:nvSpPr>
        <p:spPr>
          <a:xfrm>
            <a:off x="6126480" y="2468880"/>
            <a:ext cx="2651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3000"/>
              <a:buFont typeface="Calibri"/>
              <a:buNone/>
            </a:pPr>
            <a:r>
              <a:rPr b="1" i="0" lang="en-US" sz="3000" u="none" cap="none" strike="noStrike">
                <a:solidFill>
                  <a:srgbClr val="E23744"/>
                </a:solidFill>
                <a:latin typeface="Calibri"/>
                <a:ea typeface="Calibri"/>
                <a:cs typeface="Calibri"/>
                <a:sym typeface="Calibri"/>
              </a:rPr>
              <a:t>38.4 min</a:t>
            </a:r>
            <a:endParaRPr b="0" i="0" sz="3000" u="none" cap="none" strike="noStrike">
              <a:solidFill>
                <a:schemeClr val="dk1"/>
              </a:solidFill>
              <a:latin typeface="Calibri"/>
              <a:ea typeface="Calibri"/>
              <a:cs typeface="Calibri"/>
              <a:sym typeface="Calibri"/>
            </a:endParaRPr>
          </a:p>
        </p:txBody>
      </p:sp>
      <p:sp>
        <p:nvSpPr>
          <p:cNvPr id="119" name="Google Shape;119;p6"/>
          <p:cNvSpPr txBox="1"/>
          <p:nvPr/>
        </p:nvSpPr>
        <p:spPr>
          <a:xfrm>
            <a:off x="6126480" y="3017520"/>
            <a:ext cx="26517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0" lang="en-US" sz="1100" u="none" cap="none" strike="noStrike">
                <a:solidFill>
                  <a:srgbClr val="6B6B6B"/>
                </a:solidFill>
                <a:latin typeface="Calibri"/>
                <a:ea typeface="Calibri"/>
                <a:cs typeface="Calibri"/>
                <a:sym typeface="Calibri"/>
              </a:rPr>
              <a:t>Average delivery time</a:t>
            </a:r>
            <a:endParaRPr b="0" i="0" sz="1100" u="none" cap="none" strike="noStrike">
              <a:solidFill>
                <a:schemeClr val="dk1"/>
              </a:solidFill>
              <a:latin typeface="Calibri"/>
              <a:ea typeface="Calibri"/>
              <a:cs typeface="Calibri"/>
              <a:sym typeface="Calibri"/>
            </a:endParaRPr>
          </a:p>
        </p:txBody>
      </p:sp>
      <p:sp>
        <p:nvSpPr>
          <p:cNvPr id="120" name="Google Shape;120;p6"/>
          <p:cNvSpPr txBox="1"/>
          <p:nvPr/>
        </p:nvSpPr>
        <p:spPr>
          <a:xfrm>
            <a:off x="457200" y="40233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00"/>
              <a:buFont typeface="Calibri"/>
              <a:buNone/>
            </a:pPr>
            <a:r>
              <a:rPr b="0" i="1" lang="en-US" sz="1200" u="none" cap="none" strike="noStrike">
                <a:solidFill>
                  <a:srgbClr val="6B6B6B"/>
                </a:solidFill>
                <a:latin typeface="Calibri"/>
                <a:ea typeface="Calibri"/>
                <a:cs typeface="Calibri"/>
                <a:sym typeface="Calibri"/>
              </a:rPr>
              <a:t>Revenue counts Delivered and Delivered Late orders only. Total order value placed is Rs 8.02M.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7"/>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EDA insights: demand is steady, failures are high</a:t>
            </a:r>
            <a:endParaRPr b="0" i="0" sz="2600" u="none" cap="none" strike="noStrike">
              <a:solidFill>
                <a:schemeClr val="dk1"/>
              </a:solidFill>
              <a:latin typeface="Calibri"/>
              <a:ea typeface="Calibri"/>
              <a:cs typeface="Calibri"/>
              <a:sym typeface="Calibri"/>
            </a:endParaRPr>
          </a:p>
        </p:txBody>
      </p:sp>
      <p:sp>
        <p:nvSpPr>
          <p:cNvPr id="128" name="Google Shape;128;p7"/>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graphicFrame>
        <p:nvGraphicFramePr>
          <p:cNvPr id="129" name="Google Shape;129;p7"/>
          <p:cNvGraphicFramePr/>
          <p:nvPr/>
        </p:nvGraphicFramePr>
        <p:xfrm>
          <a:off x="365760" y="914400"/>
          <a:ext cx="4937760" cy="2468880"/>
        </p:xfrm>
        <a:graphic>
          <a:graphicData uri="http://schemas.openxmlformats.org/drawingml/2006/chart">
            <c:chart r:id="rId3"/>
          </a:graphicData>
        </a:graphic>
      </p:graphicFrame>
      <p:graphicFrame>
        <p:nvGraphicFramePr>
          <p:cNvPr id="130" name="Google Shape;130;p7"/>
          <p:cNvGraphicFramePr/>
          <p:nvPr/>
        </p:nvGraphicFramePr>
        <p:xfrm>
          <a:off x="5394960" y="914400"/>
          <a:ext cx="3474720" cy="2468880"/>
        </p:xfrm>
        <a:graphic>
          <a:graphicData uri="http://schemas.openxmlformats.org/drawingml/2006/chart">
            <c:chart r:id="rId4"/>
          </a:graphicData>
        </a:graphic>
      </p:graphicFrame>
      <p:sp>
        <p:nvSpPr>
          <p:cNvPr id="131" name="Google Shape;131;p7"/>
          <p:cNvSpPr txBox="1"/>
          <p:nvPr/>
        </p:nvSpPr>
        <p:spPr>
          <a:xfrm>
            <a:off x="457200" y="3520440"/>
            <a:ext cx="8229600" cy="11887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A third of order value (Rs 2.7M of 8.0M) is lost to cancelled or undelivered orders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Revenue is evenly spread across cities, months and cuisines; membership tiers look identical</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Late orders average 64 min vs 34 min on time, but traffic, rain and vehicle explain little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8"/>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Delivery-time model: no usable signal</a:t>
            </a:r>
            <a:endParaRPr b="0" i="0" sz="2600" u="none" cap="none" strike="noStrike">
              <a:solidFill>
                <a:schemeClr val="dk1"/>
              </a:solidFill>
              <a:latin typeface="Calibri"/>
              <a:ea typeface="Calibri"/>
              <a:cs typeface="Calibri"/>
              <a:sym typeface="Calibri"/>
            </a:endParaRPr>
          </a:p>
        </p:txBody>
      </p:sp>
      <p:sp>
        <p:nvSpPr>
          <p:cNvPr id="139" name="Google Shape;139;p8"/>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graphicFrame>
        <p:nvGraphicFramePr>
          <p:cNvPr id="140" name="Google Shape;140;p8"/>
          <p:cNvGraphicFramePr/>
          <p:nvPr/>
        </p:nvGraphicFramePr>
        <p:xfrm>
          <a:off x="457200" y="1005840"/>
          <a:ext cx="3000000" cy="3000000"/>
        </p:xfrm>
        <a:graphic>
          <a:graphicData uri="http://schemas.openxmlformats.org/drawingml/2006/table">
            <a:tbl>
              <a:tblPr>
                <a:noFill/>
                <a:tableStyleId>{B83992AC-5663-4146-ACAB-9FCA40DE1F7A}</a:tableStyleId>
              </a:tblPr>
              <a:tblGrid>
                <a:gridCol w="1737350"/>
                <a:gridCol w="822950"/>
                <a:gridCol w="731525"/>
                <a:gridCol w="914400"/>
              </a:tblGrid>
              <a:tr h="3657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Model (tuned)</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MAE (min)</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RMSE</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R-squared</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r>
              <a:tr h="365750">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Linear Regression</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11.64</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15.38</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0.001</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365750">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Random Forest</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11.66</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15.41</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-0.003</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bl>
          </a:graphicData>
        </a:graphic>
      </p:graphicFrame>
      <p:sp>
        <p:nvSpPr>
          <p:cNvPr id="141" name="Google Shape;141;p8"/>
          <p:cNvSpPr txBox="1"/>
          <p:nvPr/>
        </p:nvSpPr>
        <p:spPr>
          <a:xfrm>
            <a:off x="457200" y="2286000"/>
            <a:ext cx="42062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15 pre-delivery features: traffic, rain, basket, partner rating, hour and more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R-squared of about 0: the features explain almost none of the variation</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Next step: capture customer location, preparation time and partner GPS</a:t>
            </a:r>
            <a:endParaRPr b="0" i="0" sz="1300" u="none" cap="none" strike="noStrike">
              <a:solidFill>
                <a:schemeClr val="dk1"/>
              </a:solidFill>
              <a:latin typeface="Calibri"/>
              <a:ea typeface="Calibri"/>
              <a:cs typeface="Calibri"/>
              <a:sym typeface="Calibri"/>
            </a:endParaRPr>
          </a:p>
        </p:txBody>
      </p:sp>
      <p:pic>
        <p:nvPicPr>
          <p:cNvPr descr="/home/claude/p/images/ml/delivery_actual_vs_predicted.png" id="142" name="Google Shape;142;p8"/>
          <p:cNvPicPr preferRelativeResize="0"/>
          <p:nvPr/>
        </p:nvPicPr>
        <p:blipFill rotWithShape="1">
          <a:blip r:embed="rId3">
            <a:alphaModFix/>
          </a:blip>
          <a:srcRect b="0" l="0" r="0" t="0"/>
          <a:stretch/>
        </p:blipFill>
        <p:spPr>
          <a:xfrm>
            <a:off x="4937760" y="914400"/>
            <a:ext cx="3749040" cy="37490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9"/>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Churn model: no better than guessing</a:t>
            </a:r>
            <a:endParaRPr b="0" i="0" sz="2600" u="none" cap="none" strike="noStrike">
              <a:solidFill>
                <a:schemeClr val="dk1"/>
              </a:solidFill>
              <a:latin typeface="Calibri"/>
              <a:ea typeface="Calibri"/>
              <a:cs typeface="Calibri"/>
              <a:sym typeface="Calibri"/>
            </a:endParaRPr>
          </a:p>
        </p:txBody>
      </p:sp>
      <p:sp>
        <p:nvSpPr>
          <p:cNvPr id="150" name="Google Shape;150;p9"/>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graphicFrame>
        <p:nvGraphicFramePr>
          <p:cNvPr id="151" name="Google Shape;151;p9"/>
          <p:cNvGraphicFramePr/>
          <p:nvPr/>
        </p:nvGraphicFramePr>
        <p:xfrm>
          <a:off x="457200" y="1005840"/>
          <a:ext cx="3000000" cy="3000000"/>
        </p:xfrm>
        <a:graphic>
          <a:graphicData uri="http://schemas.openxmlformats.org/drawingml/2006/table">
            <a:tbl>
              <a:tblPr>
                <a:noFill/>
                <a:tableStyleId>{B83992AC-5663-4146-ACAB-9FCA40DE1F7A}</a:tableStyleId>
              </a:tblPr>
              <a:tblGrid>
                <a:gridCol w="1828800"/>
                <a:gridCol w="777250"/>
                <a:gridCol w="731525"/>
                <a:gridCol w="868675"/>
              </a:tblGrid>
              <a:tr h="3291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Model</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Accuracy</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F1</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ROC-AUC</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solidFill>
                      <a:srgbClr val="E23744"/>
                    </a:solidFill>
                  </a:tcPr>
                </a:tc>
              </a:tr>
              <a:tr h="329175">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Everyone churns (baseline)</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0.878</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0.935</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0.500</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329175">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Logistic Regression</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0.499</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0.637</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0.501</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329175">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Decision Tree</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0.619</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0.752</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0.507</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329175">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Random Forest</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0.820</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0.900</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0.494</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r h="329175">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Gradient Boosting</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0.579</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0.717</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c>
                  <a:txBody>
                    <a:bodyPr/>
                    <a:lstStyle/>
                    <a:p>
                      <a:pPr indent="0" lvl="0" marL="0" marR="0" rtl="0" algn="l">
                        <a:spcBef>
                          <a:spcPts val="0"/>
                        </a:spcBef>
                        <a:spcAft>
                          <a:spcPts val="0"/>
                        </a:spcAft>
                        <a:buClr>
                          <a:srgbClr val="1C1C1C"/>
                        </a:buClr>
                        <a:buSzPts val="1100"/>
                        <a:buFont typeface="Calibri"/>
                        <a:buNone/>
                      </a:pPr>
                      <a:r>
                        <a:rPr lang="en-US" sz="1100" u="none" cap="none" strike="noStrike">
                          <a:solidFill>
                            <a:srgbClr val="1C1C1C"/>
                          </a:solidFill>
                          <a:latin typeface="Calibri"/>
                          <a:ea typeface="Calibri"/>
                          <a:cs typeface="Calibri"/>
                          <a:sym typeface="Calibri"/>
                        </a:rPr>
                        <a:t>0.487</a:t>
                      </a:r>
                      <a:endParaRPr sz="1100" u="none" cap="none" strike="noStrike">
                        <a:latin typeface="Calibri"/>
                        <a:ea typeface="Calibri"/>
                        <a:cs typeface="Calibri"/>
                        <a:sym typeface="Calibri"/>
                      </a:endParaRPr>
                    </a:p>
                  </a:txBody>
                  <a:tcPr marT="45725" marB="45725" marR="91450" marL="91450">
                    <a:lnL cap="flat" cmpd="sng" w="9525">
                      <a:solidFill>
                        <a:srgbClr val="E4E4E4"/>
                      </a:solidFill>
                      <a:prstDash val="solid"/>
                      <a:round/>
                      <a:headEnd len="sm" w="sm" type="none"/>
                      <a:tailEnd len="sm" w="sm" type="none"/>
                    </a:lnL>
                    <a:lnR cap="flat" cmpd="sng" w="9525">
                      <a:solidFill>
                        <a:srgbClr val="E4E4E4"/>
                      </a:solidFill>
                      <a:prstDash val="solid"/>
                      <a:round/>
                      <a:headEnd len="sm" w="sm" type="none"/>
                      <a:tailEnd len="sm" w="sm" type="none"/>
                    </a:lnR>
                    <a:lnT cap="flat" cmpd="sng" w="9525">
                      <a:solidFill>
                        <a:srgbClr val="E4E4E4"/>
                      </a:solidFill>
                      <a:prstDash val="solid"/>
                      <a:round/>
                      <a:headEnd len="sm" w="sm" type="none"/>
                      <a:tailEnd len="sm" w="sm" type="none"/>
                    </a:lnT>
                    <a:lnB cap="flat" cmpd="sng" w="9525">
                      <a:solidFill>
                        <a:srgbClr val="E4E4E4"/>
                      </a:solidFill>
                      <a:prstDash val="solid"/>
                      <a:round/>
                      <a:headEnd len="sm" w="sm" type="none"/>
                      <a:tailEnd len="sm" w="sm" type="none"/>
                    </a:lnB>
                  </a:tcPr>
                </a:tc>
              </a:tr>
            </a:tbl>
          </a:graphicData>
        </a:graphic>
      </p:graphicFrame>
      <p:sp>
        <p:nvSpPr>
          <p:cNvPr id="152" name="Google Shape;152;p9"/>
          <p:cNvSpPr txBox="1"/>
          <p:nvPr/>
        </p:nvSpPr>
        <p:spPr>
          <a:xfrm>
            <a:off x="457200" y="3108960"/>
            <a:ext cx="4206240" cy="15544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200"/>
              <a:buFont typeface="Calibri"/>
              <a:buChar char="•"/>
            </a:pPr>
            <a:r>
              <a:rPr b="0" i="0" lang="en-US" sz="1200" u="none" cap="none" strike="noStrike">
                <a:solidFill>
                  <a:srgbClr val="1C1C1C"/>
                </a:solidFill>
                <a:latin typeface="Calibri"/>
                <a:ea typeface="Calibri"/>
                <a:cs typeface="Calibri"/>
                <a:sym typeface="Calibri"/>
              </a:rPr>
              <a:t>Time-aware design: features before 2024-11-01, churn = no order in the next 60 days</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200"/>
              <a:buFont typeface="Calibri"/>
              <a:buChar char="•"/>
            </a:pPr>
            <a:r>
              <a:rPr b="0" i="0" lang="en-US" sz="1200" u="none" cap="none" strike="noStrike">
                <a:solidFill>
                  <a:srgbClr val="1C1C1C"/>
                </a:solidFill>
                <a:latin typeface="Calibri"/>
                <a:ea typeface="Calibri"/>
                <a:cs typeface="Calibri"/>
                <a:sym typeface="Calibri"/>
              </a:rPr>
              <a:t>Class imbalance handled with class weights; top 2 models tuned</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200"/>
              <a:buFont typeface="Calibri"/>
              <a:buChar char="•"/>
            </a:pPr>
            <a:r>
              <a:rPr b="0" i="0" lang="en-US" sz="1200" u="none" cap="none" strike="noStrike">
                <a:solidFill>
                  <a:srgbClr val="1C1C1C"/>
                </a:solidFill>
                <a:latin typeface="Calibri"/>
                <a:ea typeface="Calibri"/>
                <a:cs typeface="Calibri"/>
                <a:sym typeface="Calibri"/>
              </a:rPr>
              <a:t>Probabilities and Low / Medium / High risk segments are exported for Power BI</a:t>
            </a:r>
            <a:endParaRPr b="0" i="0" sz="1200" u="none" cap="none" strike="noStrike">
              <a:solidFill>
                <a:schemeClr val="dk1"/>
              </a:solidFill>
              <a:latin typeface="Calibri"/>
              <a:ea typeface="Calibri"/>
              <a:cs typeface="Calibri"/>
              <a:sym typeface="Calibri"/>
            </a:endParaRPr>
          </a:p>
        </p:txBody>
      </p:sp>
      <p:pic>
        <p:nvPicPr>
          <p:cNvPr descr="/home/claude/p/images/ml/churn_confusion_roc.png" id="153" name="Google Shape;153;p9"/>
          <p:cNvPicPr preferRelativeResize="0"/>
          <p:nvPr/>
        </p:nvPicPr>
        <p:blipFill rotWithShape="1">
          <a:blip r:embed="rId3">
            <a:alphaModFix/>
          </a:blip>
          <a:srcRect b="0" l="0" r="0" t="0"/>
          <a:stretch/>
        </p:blipFill>
        <p:spPr>
          <a:xfrm>
            <a:off x="4754880" y="1097280"/>
            <a:ext cx="4023360" cy="1644347"/>
          </a:xfrm>
          <a:prstGeom prst="rect">
            <a:avLst/>
          </a:prstGeom>
          <a:noFill/>
          <a:ln>
            <a:noFill/>
          </a:ln>
        </p:spPr>
      </p:pic>
      <p:sp>
        <p:nvSpPr>
          <p:cNvPr id="154" name="Google Shape;154;p9"/>
          <p:cNvSpPr txBox="1"/>
          <p:nvPr/>
        </p:nvSpPr>
        <p:spPr>
          <a:xfrm>
            <a:off x="4754880" y="2880360"/>
            <a:ext cx="4023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1" lang="en-US" sz="1100" u="none" cap="none" strike="noStrike">
                <a:solidFill>
                  <a:srgbClr val="6B6B6B"/>
                </a:solidFill>
                <a:latin typeface="Calibri"/>
                <a:ea typeface="Calibri"/>
                <a:cs typeface="Calibri"/>
                <a:sym typeface="Calibri"/>
              </a:rPr>
              <a:t>Confusion matrix and ROC curve: the curve sits on the diagonal.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10"/>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Power BI dashboard: 6 pages</a:t>
            </a:r>
            <a:endParaRPr b="0" i="0" sz="2600" u="none" cap="none" strike="noStrike">
              <a:solidFill>
                <a:schemeClr val="dk1"/>
              </a:solidFill>
              <a:latin typeface="Calibri"/>
              <a:ea typeface="Calibri"/>
              <a:cs typeface="Calibri"/>
              <a:sym typeface="Calibri"/>
            </a:endParaRPr>
          </a:p>
        </p:txBody>
      </p:sp>
      <p:sp>
        <p:nvSpPr>
          <p:cNvPr id="162" name="Google Shape;162;p10"/>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163" name="Google Shape;163;p10"/>
          <p:cNvSpPr/>
          <p:nvPr/>
        </p:nvSpPr>
        <p:spPr>
          <a:xfrm>
            <a:off x="457200" y="1005840"/>
            <a:ext cx="2651760" cy="155448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
          <p:cNvSpPr txBox="1"/>
          <p:nvPr/>
        </p:nvSpPr>
        <p:spPr>
          <a:xfrm>
            <a:off x="594360" y="109728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1  Executive</a:t>
            </a:r>
            <a:endParaRPr b="0" i="0" sz="1500" u="none" cap="none" strike="noStrike">
              <a:solidFill>
                <a:schemeClr val="dk1"/>
              </a:solidFill>
              <a:latin typeface="Calibri"/>
              <a:ea typeface="Calibri"/>
              <a:cs typeface="Calibri"/>
              <a:sym typeface="Calibri"/>
            </a:endParaRPr>
          </a:p>
        </p:txBody>
      </p:sp>
      <p:sp>
        <p:nvSpPr>
          <p:cNvPr id="165" name="Google Shape;165;p10"/>
          <p:cNvSpPr txBox="1"/>
          <p:nvPr/>
        </p:nvSpPr>
        <p:spPr>
          <a:xfrm>
            <a:off x="594360" y="1463040"/>
            <a:ext cx="2377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200"/>
              <a:buFont typeface="Calibri"/>
              <a:buNone/>
            </a:pPr>
            <a:r>
              <a:rPr b="0" i="0" lang="en-US" sz="1200" u="none" cap="none" strike="noStrike">
                <a:solidFill>
                  <a:srgbClr val="1C1C1C"/>
                </a:solidFill>
                <a:latin typeface="Calibri"/>
                <a:ea typeface="Calibri"/>
                <a:cs typeface="Calibri"/>
                <a:sym typeface="Calibri"/>
              </a:rPr>
              <a:t>Revenue, orders, delivery time, late %, city and date slicers</a:t>
            </a:r>
            <a:endParaRPr b="0" i="0" sz="1200" u="none" cap="none" strike="noStrike">
              <a:solidFill>
                <a:schemeClr val="dk1"/>
              </a:solidFill>
              <a:latin typeface="Calibri"/>
              <a:ea typeface="Calibri"/>
              <a:cs typeface="Calibri"/>
              <a:sym typeface="Calibri"/>
            </a:endParaRPr>
          </a:p>
        </p:txBody>
      </p:sp>
      <p:sp>
        <p:nvSpPr>
          <p:cNvPr id="166" name="Google Shape;166;p10"/>
          <p:cNvSpPr/>
          <p:nvPr/>
        </p:nvSpPr>
        <p:spPr>
          <a:xfrm>
            <a:off x="3291840" y="1005840"/>
            <a:ext cx="2651760" cy="155448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6126480" y="1005840"/>
            <a:ext cx="2651760" cy="155448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457200" y="2743200"/>
            <a:ext cx="2651760" cy="155448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3291840" y="2743200"/>
            <a:ext cx="2651760" cy="155448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6126480" y="2743200"/>
            <a:ext cx="2651760" cy="155448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txBox="1"/>
          <p:nvPr/>
        </p:nvSpPr>
        <p:spPr>
          <a:xfrm>
            <a:off x="457200" y="45262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100"/>
              <a:buFont typeface="Calibri"/>
              <a:buNone/>
            </a:pPr>
            <a:r>
              <a:rPr b="0" i="1" lang="en-US" sz="1100" u="none" cap="none" strike="noStrike">
                <a:solidFill>
                  <a:srgbClr val="6B6B6B"/>
                </a:solidFill>
                <a:latin typeface="Calibri"/>
                <a:ea typeface="Calibri"/>
                <a:cs typeface="Calibri"/>
                <a:sym typeface="Calibri"/>
              </a:rPr>
              <a:t>All pages use the same measures, validated against SQL and Pandas.</a:t>
            </a:r>
            <a:endParaRPr b="0" i="0" sz="1100" u="none" cap="none" strike="noStrike">
              <a:solidFill>
                <a:schemeClr val="dk1"/>
              </a:solidFill>
              <a:latin typeface="Calibri"/>
              <a:ea typeface="Calibri"/>
              <a:cs typeface="Calibri"/>
              <a:sym typeface="Calibri"/>
            </a:endParaRPr>
          </a:p>
        </p:txBody>
      </p:sp>
      <p:pic>
        <p:nvPicPr>
          <p:cNvPr id="172" name="Google Shape;172;p10"/>
          <p:cNvPicPr preferRelativeResize="0"/>
          <p:nvPr/>
        </p:nvPicPr>
        <p:blipFill>
          <a:blip r:embed="rId3">
            <a:alphaModFix/>
          </a:blip>
          <a:stretch>
            <a:fillRect/>
          </a:stretch>
        </p:blipFill>
        <p:spPr>
          <a:xfrm>
            <a:off x="443488" y="1042573"/>
            <a:ext cx="2651750" cy="1481001"/>
          </a:xfrm>
          <a:prstGeom prst="rect">
            <a:avLst/>
          </a:prstGeom>
          <a:noFill/>
          <a:ln>
            <a:noFill/>
          </a:ln>
        </p:spPr>
      </p:pic>
      <p:pic>
        <p:nvPicPr>
          <p:cNvPr id="173" name="Google Shape;173;p10" title="Customer Analytics.png"/>
          <p:cNvPicPr preferRelativeResize="0"/>
          <p:nvPr/>
        </p:nvPicPr>
        <p:blipFill>
          <a:blip r:embed="rId4">
            <a:alphaModFix/>
          </a:blip>
          <a:stretch>
            <a:fillRect/>
          </a:stretch>
        </p:blipFill>
        <p:spPr>
          <a:xfrm>
            <a:off x="3291850" y="1005851"/>
            <a:ext cx="2651775" cy="1486178"/>
          </a:xfrm>
          <a:prstGeom prst="rect">
            <a:avLst/>
          </a:prstGeom>
          <a:solidFill>
            <a:srgbClr val="F6F6F6"/>
          </a:solidFill>
          <a:ln cap="flat" cmpd="sng" w="9525">
            <a:solidFill>
              <a:srgbClr val="E4E4E4"/>
            </a:solidFill>
            <a:prstDash val="solid"/>
            <a:round/>
            <a:headEnd len="sm" w="sm" type="none"/>
            <a:tailEnd len="sm" w="sm" type="none"/>
          </a:ln>
        </p:spPr>
      </p:pic>
      <p:pic>
        <p:nvPicPr>
          <p:cNvPr id="174" name="Google Shape;174;p10" title="Restaurant Performance.png"/>
          <p:cNvPicPr preferRelativeResize="0"/>
          <p:nvPr/>
        </p:nvPicPr>
        <p:blipFill>
          <a:blip r:embed="rId5">
            <a:alphaModFix/>
          </a:blip>
          <a:stretch>
            <a:fillRect/>
          </a:stretch>
        </p:blipFill>
        <p:spPr>
          <a:xfrm>
            <a:off x="6126525" y="1005848"/>
            <a:ext cx="2662495" cy="1486175"/>
          </a:xfrm>
          <a:prstGeom prst="rect">
            <a:avLst/>
          </a:prstGeom>
          <a:noFill/>
          <a:ln>
            <a:noFill/>
          </a:ln>
        </p:spPr>
      </p:pic>
      <p:pic>
        <p:nvPicPr>
          <p:cNvPr id="175" name="Google Shape;175;p10" title="Delivery Performance.png"/>
          <p:cNvPicPr preferRelativeResize="0"/>
          <p:nvPr/>
        </p:nvPicPr>
        <p:blipFill>
          <a:blip r:embed="rId6">
            <a:alphaModFix/>
          </a:blip>
          <a:stretch>
            <a:fillRect/>
          </a:stretch>
        </p:blipFill>
        <p:spPr>
          <a:xfrm>
            <a:off x="457203" y="2743225"/>
            <a:ext cx="2662499" cy="1500685"/>
          </a:xfrm>
          <a:prstGeom prst="rect">
            <a:avLst/>
          </a:prstGeom>
          <a:noFill/>
          <a:ln>
            <a:noFill/>
          </a:ln>
        </p:spPr>
      </p:pic>
      <p:pic>
        <p:nvPicPr>
          <p:cNvPr id="176" name="Google Shape;176;p10" title="Revenue &amp; Promotions.png"/>
          <p:cNvPicPr preferRelativeResize="0"/>
          <p:nvPr/>
        </p:nvPicPr>
        <p:blipFill>
          <a:blip r:embed="rId7">
            <a:alphaModFix/>
          </a:blip>
          <a:stretch>
            <a:fillRect/>
          </a:stretch>
        </p:blipFill>
        <p:spPr>
          <a:xfrm>
            <a:off x="3291850" y="2743227"/>
            <a:ext cx="2651732" cy="1480999"/>
          </a:xfrm>
          <a:prstGeom prst="rect">
            <a:avLst/>
          </a:prstGeom>
          <a:noFill/>
          <a:ln>
            <a:noFill/>
          </a:ln>
        </p:spPr>
      </p:pic>
      <p:pic>
        <p:nvPicPr>
          <p:cNvPr id="177" name="Google Shape;177;p10" title="ML &amp; Churn Insights.png"/>
          <p:cNvPicPr preferRelativeResize="0"/>
          <p:nvPr/>
        </p:nvPicPr>
        <p:blipFill>
          <a:blip r:embed="rId3">
            <a:alphaModFix/>
          </a:blip>
          <a:stretch>
            <a:fillRect/>
          </a:stretch>
        </p:blipFill>
        <p:spPr>
          <a:xfrm>
            <a:off x="6115750" y="2743228"/>
            <a:ext cx="2651775" cy="14810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11"/>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Business recommendations</a:t>
            </a:r>
            <a:endParaRPr b="0" i="0" sz="2600" u="none" cap="none" strike="noStrike">
              <a:solidFill>
                <a:schemeClr val="dk1"/>
              </a:solidFill>
              <a:latin typeface="Calibri"/>
              <a:ea typeface="Calibri"/>
              <a:cs typeface="Calibri"/>
              <a:sym typeface="Calibri"/>
            </a:endParaRPr>
          </a:p>
        </p:txBody>
      </p:sp>
      <p:sp>
        <p:nvSpPr>
          <p:cNvPr id="185" name="Google Shape;185;p11"/>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186" name="Google Shape;186;p11"/>
          <p:cNvSpPr/>
          <p:nvPr/>
        </p:nvSpPr>
        <p:spPr>
          <a:xfrm>
            <a:off x="457200" y="1051560"/>
            <a:ext cx="411480" cy="411480"/>
          </a:xfrm>
          <a:prstGeom prst="ellipse">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txBox="1"/>
          <p:nvPr/>
        </p:nvSpPr>
        <p:spPr>
          <a:xfrm>
            <a:off x="457200" y="10515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188" name="Google Shape;188;p11"/>
          <p:cNvSpPr txBox="1"/>
          <p:nvPr/>
        </p:nvSpPr>
        <p:spPr>
          <a:xfrm>
            <a:off x="1051560" y="1005840"/>
            <a:ext cx="75895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i="0" lang="en-US" sz="1500" u="none" cap="none" strike="noStrike">
                <a:solidFill>
                  <a:srgbClr val="1C1C1C"/>
                </a:solidFill>
                <a:latin typeface="Calibri"/>
                <a:ea typeface="Calibri"/>
                <a:cs typeface="Calibri"/>
                <a:sym typeface="Calibri"/>
              </a:rPr>
              <a:t>Cut order failures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Each 1 point of cancellation avoided is worth about Rs 80k; capture cancellation reasons first</a:t>
            </a:r>
            <a:endParaRPr b="0" i="0" sz="1500" u="none" cap="none" strike="noStrike">
              <a:solidFill>
                <a:schemeClr val="dk1"/>
              </a:solidFill>
              <a:latin typeface="Calibri"/>
              <a:ea typeface="Calibri"/>
              <a:cs typeface="Calibri"/>
              <a:sym typeface="Calibri"/>
            </a:endParaRPr>
          </a:p>
        </p:txBody>
      </p:sp>
      <p:sp>
        <p:nvSpPr>
          <p:cNvPr id="189" name="Google Shape;189;p11"/>
          <p:cNvSpPr/>
          <p:nvPr/>
        </p:nvSpPr>
        <p:spPr>
          <a:xfrm>
            <a:off x="457200" y="1783080"/>
            <a:ext cx="411480" cy="411480"/>
          </a:xfrm>
          <a:prstGeom prst="ellipse">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txBox="1"/>
          <p:nvPr/>
        </p:nvSpPr>
        <p:spPr>
          <a:xfrm>
            <a:off x="457200" y="17830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191" name="Google Shape;191;p11"/>
          <p:cNvSpPr txBox="1"/>
          <p:nvPr/>
        </p:nvSpPr>
        <p:spPr>
          <a:xfrm>
            <a:off x="1051560" y="1737360"/>
            <a:ext cx="75895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i="0" lang="en-US" sz="1500" u="none" cap="none" strike="noStrike">
                <a:solidFill>
                  <a:srgbClr val="1C1C1C"/>
                </a:solidFill>
                <a:latin typeface="Calibri"/>
                <a:ea typeface="Calibri"/>
                <a:cs typeface="Calibri"/>
                <a:sym typeface="Calibri"/>
              </a:rPr>
              <a:t>Look beyond peak capacity</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Failure rates are the same at peak and off-peak; check acceptance, dispatch, payments</a:t>
            </a:r>
            <a:endParaRPr b="0" i="0" sz="1500" u="none" cap="none" strike="noStrike">
              <a:solidFill>
                <a:schemeClr val="dk1"/>
              </a:solidFill>
              <a:latin typeface="Calibri"/>
              <a:ea typeface="Calibri"/>
              <a:cs typeface="Calibri"/>
              <a:sym typeface="Calibri"/>
            </a:endParaRPr>
          </a:p>
        </p:txBody>
      </p:sp>
      <p:sp>
        <p:nvSpPr>
          <p:cNvPr id="192" name="Google Shape;192;p11"/>
          <p:cNvSpPr/>
          <p:nvPr/>
        </p:nvSpPr>
        <p:spPr>
          <a:xfrm>
            <a:off x="457200" y="2514600"/>
            <a:ext cx="411480" cy="411480"/>
          </a:xfrm>
          <a:prstGeom prst="ellipse">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txBox="1"/>
          <p:nvPr/>
        </p:nvSpPr>
        <p:spPr>
          <a:xfrm>
            <a:off x="457200" y="25146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194" name="Google Shape;194;p11"/>
          <p:cNvSpPr txBox="1"/>
          <p:nvPr/>
        </p:nvSpPr>
        <p:spPr>
          <a:xfrm>
            <a:off x="1051560" y="2468880"/>
            <a:ext cx="75895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i="0" lang="en-US" sz="1500" u="none" cap="none" strike="noStrike">
                <a:solidFill>
                  <a:srgbClr val="1C1C1C"/>
                </a:solidFill>
                <a:latin typeface="Calibri"/>
                <a:ea typeface="Calibri"/>
                <a:cs typeface="Calibri"/>
                <a:sym typeface="Calibri"/>
              </a:rPr>
              <a:t>Fix late deliveries by city</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Late rate ranges from about 12% to 18% across cities</a:t>
            </a:r>
            <a:endParaRPr b="0" i="0" sz="1500" u="none" cap="none" strike="noStrike">
              <a:solidFill>
                <a:schemeClr val="dk1"/>
              </a:solidFill>
              <a:latin typeface="Calibri"/>
              <a:ea typeface="Calibri"/>
              <a:cs typeface="Calibri"/>
              <a:sym typeface="Calibri"/>
            </a:endParaRPr>
          </a:p>
        </p:txBody>
      </p:sp>
      <p:sp>
        <p:nvSpPr>
          <p:cNvPr id="195" name="Google Shape;195;p11"/>
          <p:cNvSpPr/>
          <p:nvPr/>
        </p:nvSpPr>
        <p:spPr>
          <a:xfrm>
            <a:off x="457200" y="3246120"/>
            <a:ext cx="411480" cy="411480"/>
          </a:xfrm>
          <a:prstGeom prst="ellipse">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txBox="1"/>
          <p:nvPr/>
        </p:nvSpPr>
        <p:spPr>
          <a:xfrm>
            <a:off x="457200" y="3246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197" name="Google Shape;197;p11"/>
          <p:cNvSpPr txBox="1"/>
          <p:nvPr/>
        </p:nvSpPr>
        <p:spPr>
          <a:xfrm>
            <a:off x="1051560" y="3200400"/>
            <a:ext cx="75895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i="0" lang="en-US" sz="1500" u="none" cap="none" strike="noStrike">
                <a:solidFill>
                  <a:srgbClr val="1C1C1C"/>
                </a:solidFill>
                <a:latin typeface="Calibri"/>
                <a:ea typeface="Calibri"/>
                <a:cs typeface="Calibri"/>
                <a:sym typeface="Calibri"/>
              </a:rPr>
              <a:t>Test before spending</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Run holdout tests on coupons (Rs 0.76M) and membership benefits</a:t>
            </a:r>
            <a:endParaRPr b="0" i="0" sz="1500" u="none" cap="none" strike="noStrike">
              <a:solidFill>
                <a:schemeClr val="dk1"/>
              </a:solidFill>
              <a:latin typeface="Calibri"/>
              <a:ea typeface="Calibri"/>
              <a:cs typeface="Calibri"/>
              <a:sym typeface="Calibri"/>
            </a:endParaRPr>
          </a:p>
        </p:txBody>
      </p:sp>
      <p:sp>
        <p:nvSpPr>
          <p:cNvPr id="198" name="Google Shape;198;p11"/>
          <p:cNvSpPr/>
          <p:nvPr/>
        </p:nvSpPr>
        <p:spPr>
          <a:xfrm>
            <a:off x="457200" y="3977640"/>
            <a:ext cx="411480" cy="411480"/>
          </a:xfrm>
          <a:prstGeom prst="ellipse">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txBox="1"/>
          <p:nvPr/>
        </p:nvSpPr>
        <p:spPr>
          <a:xfrm>
            <a:off x="457200" y="39776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200" name="Google Shape;200;p11"/>
          <p:cNvSpPr txBox="1"/>
          <p:nvPr/>
        </p:nvSpPr>
        <p:spPr>
          <a:xfrm>
            <a:off x="1051560" y="3931920"/>
            <a:ext cx="75895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i="0" lang="en-US" sz="1500" u="none" cap="none" strike="noStrike">
                <a:solidFill>
                  <a:srgbClr val="1C1C1C"/>
                </a:solidFill>
                <a:latin typeface="Calibri"/>
                <a:ea typeface="Calibri"/>
                <a:cs typeface="Calibri"/>
                <a:sym typeface="Calibri"/>
              </a:rPr>
              <a:t>Win the second order</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1200"/>
              <a:buFont typeface="Calibri"/>
              <a:buNone/>
            </a:pPr>
            <a:r>
              <a:rPr b="0" i="0" lang="en-US" sz="1200" u="none" cap="none" strike="noStrike">
                <a:solidFill>
                  <a:srgbClr val="6B6B6B"/>
                </a:solidFill>
                <a:latin typeface="Calibri"/>
                <a:ea typeface="Calibri"/>
                <a:cs typeface="Calibri"/>
                <a:sym typeface="Calibri"/>
              </a:rPr>
              <a:t>Most customers order once or twice; target first-time customers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2"/>
          <p:cNvSpPr/>
          <p:nvPr/>
        </p:nvSpPr>
        <p:spPr>
          <a:xfrm>
            <a:off x="0" y="0"/>
            <a:ext cx="109728" cy="5143500"/>
          </a:xfrm>
          <a:prstGeom prst="rect">
            <a:avLst/>
          </a:prstGeom>
          <a:solidFill>
            <a:srgbClr val="E23744"/>
          </a:solidFill>
          <a:ln cap="flat" cmpd="sng" w="12700">
            <a:solidFill>
              <a:srgbClr val="E237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txBox="1"/>
          <p:nvPr/>
        </p:nvSpPr>
        <p:spPr>
          <a:xfrm>
            <a:off x="45720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600"/>
              <a:buFont typeface="Calibri"/>
              <a:buNone/>
            </a:pPr>
            <a:r>
              <a:rPr b="1" i="0" lang="en-US" sz="2600" u="none" cap="none" strike="noStrike">
                <a:solidFill>
                  <a:srgbClr val="1C1C1C"/>
                </a:solidFill>
                <a:latin typeface="Calibri"/>
                <a:ea typeface="Calibri"/>
                <a:cs typeface="Calibri"/>
                <a:sym typeface="Calibri"/>
              </a:rPr>
              <a:t>Limitations and future work</a:t>
            </a:r>
            <a:endParaRPr b="0" i="0" sz="2600" u="none" cap="none" strike="noStrike">
              <a:solidFill>
                <a:schemeClr val="dk1"/>
              </a:solidFill>
              <a:latin typeface="Calibri"/>
              <a:ea typeface="Calibri"/>
              <a:cs typeface="Calibri"/>
              <a:sym typeface="Calibri"/>
            </a:endParaRPr>
          </a:p>
        </p:txBody>
      </p:sp>
      <p:sp>
        <p:nvSpPr>
          <p:cNvPr id="208" name="Google Shape;208;p12"/>
          <p:cNvSpPr txBox="1"/>
          <p:nvPr/>
        </p:nvSpPr>
        <p:spPr>
          <a:xfrm>
            <a:off x="8412480" y="4800600"/>
            <a:ext cx="4572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900"/>
              <a:buFont typeface="Calibri"/>
              <a:buNone/>
            </a:pPr>
            <a:r>
              <a:rPr b="0" i="0" lang="en-US" sz="900" u="none" cap="none" strike="noStrike">
                <a:solidFill>
                  <a:srgbClr val="6B6B6B"/>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
        <p:nvSpPr>
          <p:cNvPr id="209" name="Google Shape;209;p12"/>
          <p:cNvSpPr/>
          <p:nvPr/>
        </p:nvSpPr>
        <p:spPr>
          <a:xfrm>
            <a:off x="457200" y="1005840"/>
            <a:ext cx="4023360" cy="356616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txBox="1"/>
          <p:nvPr/>
        </p:nvSpPr>
        <p:spPr>
          <a:xfrm>
            <a:off x="594360" y="1097280"/>
            <a:ext cx="3749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3744"/>
              </a:buClr>
              <a:buSzPts val="1500"/>
              <a:buFont typeface="Calibri"/>
              <a:buNone/>
            </a:pPr>
            <a:r>
              <a:rPr b="1" i="0" lang="en-US" sz="1500" u="none" cap="none" strike="noStrike">
                <a:solidFill>
                  <a:srgbClr val="E23744"/>
                </a:solidFill>
                <a:latin typeface="Calibri"/>
                <a:ea typeface="Calibri"/>
                <a:cs typeface="Calibri"/>
                <a:sym typeface="Calibri"/>
              </a:rPr>
              <a:t>Limitations</a:t>
            </a:r>
            <a:endParaRPr b="0" i="0" sz="1500" u="none" cap="none" strike="noStrike">
              <a:solidFill>
                <a:schemeClr val="dk1"/>
              </a:solidFill>
              <a:latin typeface="Calibri"/>
              <a:ea typeface="Calibri"/>
              <a:cs typeface="Calibri"/>
              <a:sym typeface="Calibri"/>
            </a:endParaRPr>
          </a:p>
        </p:txBody>
      </p:sp>
      <p:sp>
        <p:nvSpPr>
          <p:cNvPr id="211" name="Google Shape;211;p12"/>
          <p:cNvSpPr txBox="1"/>
          <p:nvPr/>
        </p:nvSpPr>
        <p:spPr>
          <a:xfrm>
            <a:off x="594360" y="1463040"/>
            <a:ext cx="374904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12" name="Google Shape;212;p12"/>
          <p:cNvSpPr txBox="1"/>
          <p:nvPr/>
        </p:nvSpPr>
        <p:spPr>
          <a:xfrm>
            <a:off x="594360" y="1554480"/>
            <a:ext cx="3749040" cy="2926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No customer coordinates, so no distance (not fabricated)</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About 46% of orders have no weather or traffic reading</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1,173 orders have no valid date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Both ML models perform near chance</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Restaurant-level rates rest on about 17 orders each</a:t>
            </a:r>
            <a:endParaRPr b="0" i="0" sz="1300" u="none" cap="none" strike="noStrike">
              <a:solidFill>
                <a:schemeClr val="dk1"/>
              </a:solidFill>
              <a:latin typeface="Calibri"/>
              <a:ea typeface="Calibri"/>
              <a:cs typeface="Calibri"/>
              <a:sym typeface="Calibri"/>
            </a:endParaRPr>
          </a:p>
        </p:txBody>
      </p:sp>
      <p:sp>
        <p:nvSpPr>
          <p:cNvPr id="213" name="Google Shape;213;p12"/>
          <p:cNvSpPr/>
          <p:nvPr/>
        </p:nvSpPr>
        <p:spPr>
          <a:xfrm>
            <a:off x="4663440" y="1005840"/>
            <a:ext cx="4023360" cy="3566160"/>
          </a:xfrm>
          <a:prstGeom prst="rect">
            <a:avLst/>
          </a:prstGeom>
          <a:solidFill>
            <a:srgbClr val="F6F6F6"/>
          </a:solidFill>
          <a:ln cap="flat" cmpd="sng" w="9525">
            <a:solidFill>
              <a:srgbClr val="E4E4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txBox="1"/>
          <p:nvPr/>
        </p:nvSpPr>
        <p:spPr>
          <a:xfrm>
            <a:off x="4800600" y="1097280"/>
            <a:ext cx="3749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500"/>
              <a:buFont typeface="Calibri"/>
              <a:buNone/>
            </a:pPr>
            <a:r>
              <a:rPr b="1" i="0" lang="en-US" sz="1500" u="none" cap="none" strike="noStrike">
                <a:solidFill>
                  <a:srgbClr val="2E8B57"/>
                </a:solidFill>
                <a:latin typeface="Calibri"/>
                <a:ea typeface="Calibri"/>
                <a:cs typeface="Calibri"/>
                <a:sym typeface="Calibri"/>
              </a:rPr>
              <a:t>Future work</a:t>
            </a:r>
            <a:endParaRPr b="0" i="0" sz="1500" u="none" cap="none" strike="noStrike">
              <a:solidFill>
                <a:schemeClr val="dk1"/>
              </a:solidFill>
              <a:latin typeface="Calibri"/>
              <a:ea typeface="Calibri"/>
              <a:cs typeface="Calibri"/>
              <a:sym typeface="Calibri"/>
            </a:endParaRPr>
          </a:p>
        </p:txBody>
      </p:sp>
      <p:sp>
        <p:nvSpPr>
          <p:cNvPr id="215" name="Google Shape;215;p12"/>
          <p:cNvSpPr txBox="1"/>
          <p:nvPr/>
        </p:nvSpPr>
        <p:spPr>
          <a:xfrm>
            <a:off x="4800600" y="1463040"/>
            <a:ext cx="374904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16" name="Google Shape;216;p12"/>
          <p:cNvSpPr txBox="1"/>
          <p:nvPr/>
        </p:nvSpPr>
        <p:spPr>
          <a:xfrm>
            <a:off x="4800600" y="1554480"/>
            <a:ext cx="3749040" cy="29260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Capture customer location, preparation time and partner GPS, then retrain</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Add behavioural signals for churn: app activity, complaints, refunds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Record cancellation reasons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C1C1C"/>
              </a:buClr>
              <a:buSzPts val="1300"/>
              <a:buFont typeface="Calibri"/>
              <a:buChar char="•"/>
            </a:pPr>
            <a:r>
              <a:rPr b="0" i="0" lang="en-US" sz="1300" u="none" cap="none" strike="noStrike">
                <a:solidFill>
                  <a:srgbClr val="1C1C1C"/>
                </a:solidFill>
                <a:latin typeface="Calibri"/>
                <a:ea typeface="Calibri"/>
                <a:cs typeface="Calibri"/>
                <a:sym typeface="Calibri"/>
              </a:rPr>
              <a:t>Automate the pipeline with one run script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2026-09-23T21:24:16Z</dcterms:created>
  <dc:creator>PptxGenJS</dc:creator>
</cp:coreProperties>
</file>